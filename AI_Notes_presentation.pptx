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cả lớp. Nhóm mình làm Case B — AI Notes. 5 phút, năm mục.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mục, mỗi mục khoảng một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Hypothesis Problem nhóm mang từ Day 17 sang. Đọc nguyên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practice notes cho cùng một pattern: ai cũng tự chắp vá một quy trình riêng. Nhưng phần dưới là chỗ nhóm còn yếu.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chọn Pain A để điều tra trước, nhưng giữ B và C trên bàn để không chọn A chỉ vì nó khớp sẵn với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Parking Lot có 5 hướng, trong đó 2 hướng không dùng AI. Chọn lại 3 theo ba vị trí trên spectrum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 check: A khác B ở chỗ có hay không có bước AI xử lý nội dung. B khác C ở chỗ AI gợi ý từng phần hay viết sẵn bản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Agency tăng dần đúng theo mức hậu quả nếu sai. C là chỗ đường kiểm soát phải chắc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prototype dùng cùng một bộ fixture: highlight, điểm Chưa hiểu, câu hỏi của cùng một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tester, ba option. Điểm đáng chú ý: breakdown của A và B lặp lại ở cả ba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ai chọn A. Hai trên ba tự đề xuất ghép B với C mà không được gợi ý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Next Change nhóm chốt: một luồng hai bước, B trước rồi C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lại bằng phần còn chưa chứng minh — đây là việc của vòng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62A60">
                  <a:alpha val="100000"/>
                </a:srgbClr>
              </a:gs>
              <a:gs pos="45000">
                <a:srgbClr val="1B1D31">
                  <a:alpha val="100000"/>
                </a:srgbClr>
              </a:gs>
              <a:gs pos="100000">
                <a:srgbClr val="161826">
                  <a:alpha val="100000"/>
                </a:srgbClr>
              </a:gs>
            </a:gsLst>
            <a:path path="circle">
              <a:fillToRect l="12000" t="0" r="88000" b="100000"/>
            </a:path>
          </a:gradFill>
          <a:ln/>
        </p:spPr>
      </p:sp>
      <p:sp>
        <p:nvSpPr>
          <p:cNvPr id="3" name="Shape 1"/>
          <p:cNvSpPr/>
          <p:nvPr/>
        </p:nvSpPr>
        <p:spPr>
          <a:xfrm>
            <a:off x="1143000" y="2838450"/>
            <a:ext cx="609600" cy="28575"/>
          </a:xfrm>
          <a:prstGeom prst="rect">
            <a:avLst/>
          </a:prstGeom>
          <a:solidFill>
            <a:srgbClr val="9184D9"/>
          </a:solidFill>
          <a:ln/>
        </p:spPr>
      </p:sp>
      <p:sp>
        <p:nvSpPr>
          <p:cNvPr id="4" name="Text 2"/>
          <p:cNvSpPr/>
          <p:nvPr/>
        </p:nvSpPr>
        <p:spPr>
          <a:xfrm>
            <a:off x="1943100" y="2646045"/>
            <a:ext cx="4741331"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CASE B · TRACK 1 · DAY 18</a:t>
            </a:r>
            <a:endParaRPr lang="en-US" sz="2100" dirty="0"/>
          </a:p>
        </p:txBody>
      </p:sp>
      <p:sp>
        <p:nvSpPr>
          <p:cNvPr id="5" name="Text 3"/>
          <p:cNvSpPr/>
          <p:nvPr/>
        </p:nvSpPr>
        <p:spPr>
          <a:xfrm>
            <a:off x="1143000" y="3440430"/>
            <a:ext cx="13735050" cy="1958340"/>
          </a:xfrm>
          <a:prstGeom prst="rect">
            <a:avLst/>
          </a:prstGeom>
          <a:noFill/>
          <a:ln/>
        </p:spPr>
        <p:txBody>
          <a:bodyPr wrap="square" lIns="25400" tIns="25400" rIns="25400" bIns="25400" rtlCol="0" anchor="t">
            <a:normAutofit/>
          </a:bodyPr>
          <a:lstStyle/>
          <a:p>
            <a:pPr algn="l" indent="0" marL="0">
              <a:lnSpc>
                <a:spcPct val="91304"/>
              </a:lnSpc>
              <a:buNone/>
            </a:pPr>
            <a:r>
              <a:rPr lang="en-US" sz="7200" spc="-144" kern="0" dirty="0">
                <a:solidFill>
                  <a:srgbClr val="E9E9ED"/>
                </a:solidFill>
                <a:latin typeface="Arial" pitchFamily="34" charset="0"/>
                <a:ea typeface="Arial" pitchFamily="34" charset="-122"/>
                <a:cs typeface="Arial" pitchFamily="34" charset="-120"/>
              </a:rPr>
              <a:t>AI Notes: Personal Learning Notes</a:t>
            </a:r>
            <a:endParaRPr lang="en-US" sz="7200" dirty="0"/>
          </a:p>
        </p:txBody>
      </p:sp>
      <p:sp>
        <p:nvSpPr>
          <p:cNvPr id="6" name="Text 4"/>
          <p:cNvSpPr/>
          <p:nvPr/>
        </p:nvSpPr>
        <p:spPr>
          <a:xfrm>
            <a:off x="1143000" y="5741670"/>
            <a:ext cx="11282363" cy="1104900"/>
          </a:xfrm>
          <a:prstGeom prst="rect">
            <a:avLst/>
          </a:prstGeom>
          <a:noFill/>
          <a:ln/>
        </p:spPr>
        <p:txBody>
          <a:bodyPr wrap="square" lIns="25400" tIns="25400" rIns="25400" bIns="25400" rtlCol="0" anchor="t">
            <a:normAutofit/>
          </a:bodyPr>
          <a:lstStyle/>
          <a:p>
            <a:pPr algn="l" indent="0" marL="0">
              <a:lnSpc>
                <a:spcPct val="120690"/>
              </a:lnSpc>
              <a:buNone/>
            </a:pPr>
            <a:r>
              <a:rPr lang="en-US" sz="3000" dirty="0">
                <a:solidFill>
                  <a:srgbClr val="CFD0D8"/>
                </a:solidFill>
                <a:latin typeface="Arial" pitchFamily="34" charset="0"/>
                <a:ea typeface="Arial" pitchFamily="34" charset="-122"/>
                <a:cs typeface="Arial" pitchFamily="34" charset="-120"/>
              </a:rPr>
              <a:t>Từ pain point đến ba option test và một hướng cải tiến sau khi nghe tester</a:t>
            </a:r>
            <a:endParaRPr lang="en-US" sz="3000" dirty="0"/>
          </a:p>
        </p:txBody>
      </p:sp>
      <p:sp>
        <p:nvSpPr>
          <p:cNvPr id="7" name="Text 5"/>
          <p:cNvSpPr/>
          <p:nvPr/>
        </p:nvSpPr>
        <p:spPr>
          <a:xfrm>
            <a:off x="1143000" y="7418070"/>
            <a:ext cx="2058043"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Cao Nhật Minh</a:t>
            </a:r>
            <a:endParaRPr lang="en-US" sz="2100" dirty="0"/>
          </a:p>
        </p:txBody>
      </p:sp>
      <p:sp>
        <p:nvSpPr>
          <p:cNvPr id="8" name="Text 6"/>
          <p:cNvSpPr/>
          <p:nvPr/>
        </p:nvSpPr>
        <p:spPr>
          <a:xfrm>
            <a:off x="3471148" y="7418070"/>
            <a:ext cx="1993213"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Dương Văn Vũ</a:t>
            </a:r>
            <a:endParaRPr lang="en-US" sz="2100" dirty="0"/>
          </a:p>
        </p:txBody>
      </p:sp>
      <p:sp>
        <p:nvSpPr>
          <p:cNvPr id="9" name="Text 7"/>
          <p:cNvSpPr/>
          <p:nvPr/>
        </p:nvSpPr>
        <p:spPr>
          <a:xfrm>
            <a:off x="5740361" y="7418070"/>
            <a:ext cx="2413492"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Phạm Khánh Linh</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NỘI DUNG TRÌNH BÀY</a:t>
            </a:r>
            <a:endParaRPr lang="en-US" sz="2100" dirty="0"/>
          </a:p>
        </p:txBody>
      </p:sp>
      <p:sp>
        <p:nvSpPr>
          <p:cNvPr id="3" name="Shape 1"/>
          <p:cNvSpPr/>
          <p:nvPr/>
        </p:nvSpPr>
        <p:spPr>
          <a:xfrm>
            <a:off x="1143000" y="1861185"/>
            <a:ext cx="7239000" cy="9525"/>
          </a:xfrm>
          <a:prstGeom prst="rect">
            <a:avLst/>
          </a:prstGeom>
          <a:solidFill>
            <a:srgbClr val="E9E9ED">
              <a:alpha val="16000"/>
            </a:srgbClr>
          </a:solidFill>
          <a:ln/>
        </p:spPr>
      </p:sp>
      <p:sp>
        <p:nvSpPr>
          <p:cNvPr id="4" name="Text 2"/>
          <p:cNvSpPr/>
          <p:nvPr/>
        </p:nvSpPr>
        <p:spPr>
          <a:xfrm>
            <a:off x="1143000" y="2204085"/>
            <a:ext cx="496253"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796CBF"/>
                </a:solidFill>
                <a:latin typeface="Arial" pitchFamily="34" charset="0"/>
                <a:ea typeface="Arial" pitchFamily="34" charset="-122"/>
                <a:cs typeface="Arial" pitchFamily="34" charset="-120"/>
              </a:rPr>
              <a:t>01</a:t>
            </a:r>
            <a:endParaRPr lang="en-US" sz="2550" dirty="0"/>
          </a:p>
        </p:txBody>
      </p:sp>
      <p:sp>
        <p:nvSpPr>
          <p:cNvPr id="5" name="Text 3"/>
          <p:cNvSpPr/>
          <p:nvPr/>
        </p:nvSpPr>
        <p:spPr>
          <a:xfrm>
            <a:off x="1829753" y="2097405"/>
            <a:ext cx="2160592"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E9E9ED"/>
                </a:solidFill>
                <a:latin typeface="Arial" pitchFamily="34" charset="0"/>
                <a:ea typeface="Arial" pitchFamily="34" charset="-122"/>
                <a:cs typeface="Arial" pitchFamily="34" charset="-120"/>
              </a:rPr>
              <a:t>Pain point</a:t>
            </a:r>
            <a:endParaRPr lang="en-US" sz="3300" dirty="0"/>
          </a:p>
        </p:txBody>
      </p:sp>
      <p:sp>
        <p:nvSpPr>
          <p:cNvPr id="6" name="Shape 4"/>
          <p:cNvSpPr/>
          <p:nvPr/>
        </p:nvSpPr>
        <p:spPr>
          <a:xfrm>
            <a:off x="9144000" y="1861185"/>
            <a:ext cx="7239000" cy="9525"/>
          </a:xfrm>
          <a:prstGeom prst="rect">
            <a:avLst/>
          </a:prstGeom>
          <a:solidFill>
            <a:srgbClr val="E9E9ED">
              <a:alpha val="16000"/>
            </a:srgbClr>
          </a:solidFill>
          <a:ln/>
        </p:spPr>
      </p:sp>
      <p:sp>
        <p:nvSpPr>
          <p:cNvPr id="7" name="Text 5"/>
          <p:cNvSpPr/>
          <p:nvPr/>
        </p:nvSpPr>
        <p:spPr>
          <a:xfrm>
            <a:off x="9144000" y="2204085"/>
            <a:ext cx="496253"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796CBF"/>
                </a:solidFill>
                <a:latin typeface="Arial" pitchFamily="34" charset="0"/>
                <a:ea typeface="Arial" pitchFamily="34" charset="-122"/>
                <a:cs typeface="Arial" pitchFamily="34" charset="-120"/>
              </a:rPr>
              <a:t>02</a:t>
            </a:r>
            <a:endParaRPr lang="en-US" sz="2550" dirty="0"/>
          </a:p>
        </p:txBody>
      </p:sp>
      <p:sp>
        <p:nvSpPr>
          <p:cNvPr id="8" name="Text 6"/>
          <p:cNvSpPr/>
          <p:nvPr/>
        </p:nvSpPr>
        <p:spPr>
          <a:xfrm>
            <a:off x="9830752" y="2097405"/>
            <a:ext cx="4803934"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E9E9ED"/>
                </a:solidFill>
                <a:latin typeface="Arial" pitchFamily="34" charset="0"/>
                <a:ea typeface="Arial" pitchFamily="34" charset="-122"/>
                <a:cs typeface="Arial" pitchFamily="34" charset="-120"/>
              </a:rPr>
              <a:t>Lý do chọn hướng giải</a:t>
            </a:r>
            <a:endParaRPr lang="en-US" sz="3300" dirty="0"/>
          </a:p>
        </p:txBody>
      </p:sp>
      <p:sp>
        <p:nvSpPr>
          <p:cNvPr id="9" name="Shape 7"/>
          <p:cNvSpPr/>
          <p:nvPr/>
        </p:nvSpPr>
        <p:spPr>
          <a:xfrm>
            <a:off x="1143000" y="3089910"/>
            <a:ext cx="7239000" cy="9525"/>
          </a:xfrm>
          <a:prstGeom prst="rect">
            <a:avLst/>
          </a:prstGeom>
          <a:solidFill>
            <a:srgbClr val="E9E9ED">
              <a:alpha val="16000"/>
            </a:srgbClr>
          </a:solidFill>
          <a:ln/>
        </p:spPr>
      </p:sp>
      <p:sp>
        <p:nvSpPr>
          <p:cNvPr id="10" name="Text 8"/>
          <p:cNvSpPr/>
          <p:nvPr/>
        </p:nvSpPr>
        <p:spPr>
          <a:xfrm>
            <a:off x="1143000" y="3432810"/>
            <a:ext cx="496253"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796CBF"/>
                </a:solidFill>
                <a:latin typeface="Arial" pitchFamily="34" charset="0"/>
                <a:ea typeface="Arial" pitchFamily="34" charset="-122"/>
                <a:cs typeface="Arial" pitchFamily="34" charset="-120"/>
              </a:rPr>
              <a:t>03</a:t>
            </a:r>
            <a:endParaRPr lang="en-US" sz="2550" dirty="0"/>
          </a:p>
        </p:txBody>
      </p:sp>
      <p:sp>
        <p:nvSpPr>
          <p:cNvPr id="11" name="Text 9"/>
          <p:cNvSpPr/>
          <p:nvPr/>
        </p:nvSpPr>
        <p:spPr>
          <a:xfrm>
            <a:off x="1829753" y="3326130"/>
            <a:ext cx="6748815" cy="1337310"/>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E9E9ED"/>
                </a:solidFill>
                <a:latin typeface="Arial" pitchFamily="34" charset="0"/>
                <a:ea typeface="Arial" pitchFamily="34" charset="-122"/>
                <a:cs typeface="Arial" pitchFamily="34" charset="-120"/>
              </a:rPr>
              <a:t>Ba option và mức can thiệp của AI</a:t>
            </a:r>
            <a:endParaRPr lang="en-US" sz="3300" dirty="0"/>
          </a:p>
        </p:txBody>
      </p:sp>
      <p:sp>
        <p:nvSpPr>
          <p:cNvPr id="12" name="Shape 10"/>
          <p:cNvSpPr/>
          <p:nvPr/>
        </p:nvSpPr>
        <p:spPr>
          <a:xfrm>
            <a:off x="9144000" y="3089910"/>
            <a:ext cx="7239000" cy="9525"/>
          </a:xfrm>
          <a:prstGeom prst="rect">
            <a:avLst/>
          </a:prstGeom>
          <a:solidFill>
            <a:srgbClr val="E9E9ED">
              <a:alpha val="16000"/>
            </a:srgbClr>
          </a:solidFill>
          <a:ln/>
        </p:spPr>
      </p:sp>
      <p:sp>
        <p:nvSpPr>
          <p:cNvPr id="13" name="Text 11"/>
          <p:cNvSpPr/>
          <p:nvPr/>
        </p:nvSpPr>
        <p:spPr>
          <a:xfrm>
            <a:off x="9144000" y="3432810"/>
            <a:ext cx="496253"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796CBF"/>
                </a:solidFill>
                <a:latin typeface="Arial" pitchFamily="34" charset="0"/>
                <a:ea typeface="Arial" pitchFamily="34" charset="-122"/>
                <a:cs typeface="Arial" pitchFamily="34" charset="-120"/>
              </a:rPr>
              <a:t>04</a:t>
            </a:r>
            <a:endParaRPr lang="en-US" sz="2550" dirty="0"/>
          </a:p>
        </p:txBody>
      </p:sp>
      <p:sp>
        <p:nvSpPr>
          <p:cNvPr id="14" name="Text 12"/>
          <p:cNvSpPr/>
          <p:nvPr/>
        </p:nvSpPr>
        <p:spPr>
          <a:xfrm>
            <a:off x="9830752" y="3326130"/>
            <a:ext cx="4370034"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E9E9ED"/>
                </a:solidFill>
                <a:latin typeface="Arial" pitchFamily="34" charset="0"/>
                <a:ea typeface="Arial" pitchFamily="34" charset="-122"/>
                <a:cs typeface="Arial" pitchFamily="34" charset="-120"/>
              </a:rPr>
              <a:t>Phản ứng của tester</a:t>
            </a:r>
            <a:endParaRPr lang="en-US" sz="3300" dirty="0"/>
          </a:p>
        </p:txBody>
      </p:sp>
      <p:sp>
        <p:nvSpPr>
          <p:cNvPr id="15" name="Shape 13"/>
          <p:cNvSpPr/>
          <p:nvPr/>
        </p:nvSpPr>
        <p:spPr>
          <a:xfrm>
            <a:off x="1143000" y="4968240"/>
            <a:ext cx="7239000" cy="9525"/>
          </a:xfrm>
          <a:prstGeom prst="rect">
            <a:avLst/>
          </a:prstGeom>
          <a:solidFill>
            <a:srgbClr val="E9E9ED">
              <a:alpha val="16000"/>
            </a:srgbClr>
          </a:solidFill>
          <a:ln/>
        </p:spPr>
      </p:sp>
      <p:sp>
        <p:nvSpPr>
          <p:cNvPr id="16" name="Text 14"/>
          <p:cNvSpPr/>
          <p:nvPr/>
        </p:nvSpPr>
        <p:spPr>
          <a:xfrm>
            <a:off x="1143000" y="5311140"/>
            <a:ext cx="496253"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796CBF"/>
                </a:solidFill>
                <a:latin typeface="Arial" pitchFamily="34" charset="0"/>
                <a:ea typeface="Arial" pitchFamily="34" charset="-122"/>
                <a:cs typeface="Arial" pitchFamily="34" charset="-120"/>
              </a:rPr>
              <a:t>05</a:t>
            </a:r>
            <a:endParaRPr lang="en-US" sz="2550" dirty="0"/>
          </a:p>
        </p:txBody>
      </p:sp>
      <p:sp>
        <p:nvSpPr>
          <p:cNvPr id="17" name="Text 15"/>
          <p:cNvSpPr/>
          <p:nvPr/>
        </p:nvSpPr>
        <p:spPr>
          <a:xfrm>
            <a:off x="1829753" y="5204460"/>
            <a:ext cx="5634799"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E9E9ED"/>
                </a:solidFill>
                <a:latin typeface="Arial" pitchFamily="34" charset="0"/>
                <a:ea typeface="Arial" pitchFamily="34" charset="-122"/>
                <a:cs typeface="Arial" pitchFamily="34" charset="-120"/>
              </a:rPr>
              <a:t>Kết luận và hướng cải tiến</a:t>
            </a:r>
            <a:endParaRPr 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62A60">
                  <a:alpha val="100000"/>
                </a:srgbClr>
              </a:gs>
              <a:gs pos="50000">
                <a:srgbClr val="1A1C2D">
                  <a:alpha val="100000"/>
                </a:srgbClr>
              </a:gs>
              <a:gs pos="100000">
                <a:srgbClr val="161826">
                  <a:alpha val="100000"/>
                </a:srgbClr>
              </a:gs>
            </a:gsLst>
            <a:path path="circle">
              <a:fillToRect l="100000" t="0" r="0" b="100000"/>
            </a:path>
          </a:gradFill>
          <a:ln/>
        </p:spPr>
      </p:sp>
      <p:sp>
        <p:nvSpPr>
          <p:cNvPr id="3" name="Text 1"/>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01 · PAIN POINT</a:t>
            </a:r>
            <a:endParaRPr lang="en-US" sz="2100" dirty="0"/>
          </a:p>
        </p:txBody>
      </p:sp>
      <p:sp>
        <p:nvSpPr>
          <p:cNvPr id="4" name="Text 2"/>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Hypothesis Problem</a:t>
            </a:r>
            <a:endParaRPr lang="en-US" sz="4800" dirty="0"/>
          </a:p>
        </p:txBody>
      </p:sp>
      <p:sp>
        <p:nvSpPr>
          <p:cNvPr id="5" name="Shape 3"/>
          <p:cNvSpPr/>
          <p:nvPr/>
        </p:nvSpPr>
        <p:spPr>
          <a:xfrm>
            <a:off x="1143000" y="2734389"/>
            <a:ext cx="38100" cy="2171700"/>
          </a:xfrm>
          <a:prstGeom prst="rect">
            <a:avLst/>
          </a:prstGeom>
          <a:gradFill rotWithShape="1">
            <a:gsLst>
              <a:gs pos="0">
                <a:srgbClr val="9184D9">
                  <a:alpha val="100000"/>
                </a:srgbClr>
              </a:gs>
              <a:gs pos="100000">
                <a:srgbClr val="9184D9">
                  <a:alpha val="15000"/>
                </a:srgbClr>
              </a:gs>
            </a:gsLst>
            <a:lin ang="5400000" scaled="0"/>
          </a:gradFill>
          <a:ln/>
        </p:spPr>
      </p:sp>
      <p:sp>
        <p:nvSpPr>
          <p:cNvPr id="6" name="Text 4"/>
          <p:cNvSpPr/>
          <p:nvPr/>
        </p:nvSpPr>
        <p:spPr>
          <a:xfrm>
            <a:off x="1562100" y="2734389"/>
            <a:ext cx="14873097" cy="2209800"/>
          </a:xfrm>
          <a:prstGeom prst="rect">
            <a:avLst/>
          </a:prstGeom>
          <a:noFill/>
          <a:ln/>
        </p:spPr>
        <p:txBody>
          <a:bodyPr wrap="square" lIns="25400" tIns="25400" rIns="25400" bIns="25400" rtlCol="0" anchor="t">
            <a:normAutofit/>
          </a:bodyPr>
          <a:lstStyle/>
          <a:p>
            <a:pPr algn="l" indent="0" marL="0">
              <a:lnSpc>
                <a:spcPct val="129545"/>
              </a:lnSpc>
              <a:buNone/>
            </a:pPr>
            <a:r>
              <a:rPr lang="en-US" sz="2850" dirty="0">
                <a:solidFill>
                  <a:srgbClr val="E9E9ED"/>
                </a:solidFill>
                <a:latin typeface="Arial" pitchFamily="34" charset="0"/>
                <a:ea typeface="Arial" pitchFamily="34" charset="-122"/>
                <a:cs typeface="Arial" pitchFamily="34" charset="-120"/>
              </a:rPr>
              <a:t>Khi có việc buộc phải dùng lại nội dung của một bài đã học cách đó vài ngày, học viên có thể gặp khó khăn trong việc lấy lại đúng phần mình cần vì nội dung nằm rải ở nhiều nơi và không có điểm vào rõ ràng; điều này có thể khiến họ phải tua và đọc lại nhiều hơn dự tính, hoặc bỏ cuộc giữa chừng và làm tiếp việc đang dở với hiểu biết mơ hồ.</a:t>
            </a:r>
            <a:endParaRPr lang="en-US" sz="2850" dirty="0"/>
          </a:p>
        </p:txBody>
      </p:sp>
      <p:sp>
        <p:nvSpPr>
          <p:cNvPr id="7" name="Text 5"/>
          <p:cNvSpPr/>
          <p:nvPr/>
        </p:nvSpPr>
        <p:spPr>
          <a:xfrm>
            <a:off x="1143000" y="5439489"/>
            <a:ext cx="486156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10" kern="0" dirty="0">
                <a:solidFill>
                  <a:srgbClr val="796CBF"/>
                </a:solidFill>
                <a:latin typeface="Arial" pitchFamily="34" charset="0"/>
                <a:ea typeface="Arial" pitchFamily="34" charset="-122"/>
                <a:cs typeface="Arial" pitchFamily="34" charset="-120"/>
              </a:rPr>
              <a:t>ACTOR</a:t>
            </a:r>
            <a:endParaRPr lang="en-US" sz="2100" dirty="0"/>
          </a:p>
        </p:txBody>
      </p:sp>
      <p:sp>
        <p:nvSpPr>
          <p:cNvPr id="8" name="Text 6"/>
          <p:cNvSpPr/>
          <p:nvPr/>
        </p:nvSpPr>
        <p:spPr>
          <a:xfrm>
            <a:off x="1143000" y="5929075"/>
            <a:ext cx="486156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Học viên, lúc cần dùng lại nội dung</a:t>
            </a:r>
            <a:endParaRPr lang="en-US" sz="2100" dirty="0"/>
          </a:p>
        </p:txBody>
      </p:sp>
      <p:sp>
        <p:nvSpPr>
          <p:cNvPr id="9" name="Text 7"/>
          <p:cNvSpPr/>
          <p:nvPr/>
        </p:nvSpPr>
        <p:spPr>
          <a:xfrm>
            <a:off x="6248400" y="5439489"/>
            <a:ext cx="5877485"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10" kern="0" dirty="0">
                <a:solidFill>
                  <a:srgbClr val="796CBF"/>
                </a:solidFill>
                <a:latin typeface="Arial" pitchFamily="34" charset="0"/>
                <a:ea typeface="Arial" pitchFamily="34" charset="-122"/>
                <a:cs typeface="Arial" pitchFamily="34" charset="-120"/>
              </a:rPr>
              <a:t>SITUATION</a:t>
            </a:r>
            <a:endParaRPr lang="en-US" sz="2100" dirty="0"/>
          </a:p>
        </p:txBody>
      </p:sp>
      <p:sp>
        <p:nvSpPr>
          <p:cNvPr id="10" name="Text 8"/>
          <p:cNvSpPr/>
          <p:nvPr/>
        </p:nvSpPr>
        <p:spPr>
          <a:xfrm>
            <a:off x="6248400" y="5929075"/>
            <a:ext cx="5877485"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Vài ngày sau bài học, có việc phải dùng lại</a:t>
            </a:r>
            <a:endParaRPr lang="en-US" sz="2100" dirty="0"/>
          </a:p>
        </p:txBody>
      </p:sp>
      <p:sp>
        <p:nvSpPr>
          <p:cNvPr id="11" name="Text 9"/>
          <p:cNvSpPr/>
          <p:nvPr/>
        </p:nvSpPr>
        <p:spPr>
          <a:xfrm>
            <a:off x="12277368" y="5439489"/>
            <a:ext cx="3587103"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10" kern="0" dirty="0">
                <a:solidFill>
                  <a:srgbClr val="796CBF"/>
                </a:solidFill>
                <a:latin typeface="Arial" pitchFamily="34" charset="0"/>
                <a:ea typeface="Arial" pitchFamily="34" charset="-122"/>
                <a:cs typeface="Arial" pitchFamily="34" charset="-120"/>
              </a:rPr>
              <a:t>BARRIER ĐIỀU TRA</a:t>
            </a:r>
            <a:endParaRPr lang="en-US" sz="2100" dirty="0"/>
          </a:p>
        </p:txBody>
      </p:sp>
      <p:sp>
        <p:nvSpPr>
          <p:cNvPr id="12" name="Text 10"/>
          <p:cNvSpPr/>
          <p:nvPr/>
        </p:nvSpPr>
        <p:spPr>
          <a:xfrm>
            <a:off x="12277368" y="5929075"/>
            <a:ext cx="3587103"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TÌM lại, chưa loại trừ HIỂU</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01 · PAIN POINT</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Không ai có một điểm vào chung</a:t>
            </a:r>
            <a:endParaRPr lang="en-US" sz="4800" dirty="0"/>
          </a:p>
        </p:txBody>
      </p:sp>
      <p:sp>
        <p:nvSpPr>
          <p:cNvPr id="4" name="Text 2"/>
          <p:cNvSpPr/>
          <p:nvPr/>
        </p:nvSpPr>
        <p:spPr>
          <a:xfrm>
            <a:off x="1143000" y="2391489"/>
            <a:ext cx="1760220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A7A8B4"/>
                </a:solidFill>
                <a:latin typeface="Arial" pitchFamily="34" charset="0"/>
                <a:ea typeface="Arial" pitchFamily="34" charset="-122"/>
                <a:cs typeface="Arial" pitchFamily="34" charset="-120"/>
              </a:rPr>
              <a:t>Ba practice notes, ba workaround tự chế</a:t>
            </a:r>
            <a:endParaRPr lang="en-US" sz="2250" dirty="0"/>
          </a:p>
        </p:txBody>
      </p:sp>
      <p:sp>
        <p:nvSpPr>
          <p:cNvPr id="5" name="Shape 3"/>
          <p:cNvSpPr/>
          <p:nvPr/>
        </p:nvSpPr>
        <p:spPr>
          <a:xfrm>
            <a:off x="1143000" y="3329702"/>
            <a:ext cx="5130761" cy="3222308"/>
          </a:xfrm>
          <a:prstGeom prst="roundRect">
            <a:avLst>
              <a:gd name="adj" fmla="val 2365"/>
            </a:avLst>
          </a:prstGeom>
          <a:solidFill>
            <a:srgbClr val="232532"/>
          </a:solidFill>
          <a:ln w="7620">
            <a:solidFill>
              <a:srgbClr val="E9E9ED">
                <a:alpha val="10000"/>
              </a:srgbClr>
            </a:solidFill>
            <a:prstDash val="solid"/>
          </a:ln>
        </p:spPr>
      </p:sp>
      <p:sp>
        <p:nvSpPr>
          <p:cNvPr id="6" name="Text 4"/>
          <p:cNvSpPr/>
          <p:nvPr/>
        </p:nvSpPr>
        <p:spPr>
          <a:xfrm>
            <a:off x="1531620" y="3718322"/>
            <a:ext cx="4788872"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CAO NHẬT MINH</a:t>
            </a:r>
            <a:endParaRPr lang="en-US" sz="1950" dirty="0"/>
          </a:p>
        </p:txBody>
      </p:sp>
      <p:sp>
        <p:nvSpPr>
          <p:cNvPr id="7" name="Text 5"/>
          <p:cNvSpPr/>
          <p:nvPr/>
        </p:nvSpPr>
        <p:spPr>
          <a:xfrm>
            <a:off x="1531620" y="4292680"/>
            <a:ext cx="4484126" cy="944880"/>
          </a:xfrm>
          <a:prstGeom prst="rect">
            <a:avLst/>
          </a:prstGeom>
          <a:noFill/>
          <a:ln/>
        </p:spPr>
        <p:txBody>
          <a:bodyPr wrap="square" lIns="25400" tIns="25400" rIns="25400" bIns="25400" rtlCol="0" anchor="t">
            <a:normAutofit/>
          </a:bodyPr>
          <a:lstStyle/>
          <a:p>
            <a:pPr algn="l" indent="0" marL="0">
              <a:lnSpc>
                <a:spcPct val="123958"/>
              </a:lnSpc>
              <a:buNone/>
            </a:pPr>
            <a:r>
              <a:rPr lang="en-US" sz="2550" dirty="0">
                <a:solidFill>
                  <a:srgbClr val="E9E9ED"/>
                </a:solidFill>
                <a:latin typeface="Arial" pitchFamily="34" charset="0"/>
                <a:ea typeface="Arial" pitchFamily="34" charset="-122"/>
                <a:cs typeface="Arial" pitchFamily="34" charset="-120"/>
              </a:rPr>
              <a:t>Gộp notepad rồi đưa vào ChatGPT để tổng hợp lại</a:t>
            </a:r>
            <a:endParaRPr lang="en-US" sz="2550" dirty="0"/>
          </a:p>
        </p:txBody>
      </p:sp>
      <p:sp>
        <p:nvSpPr>
          <p:cNvPr id="8" name="Text 6"/>
          <p:cNvSpPr/>
          <p:nvPr/>
        </p:nvSpPr>
        <p:spPr>
          <a:xfrm>
            <a:off x="1531620" y="5389959"/>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Tự nhận việc tổ chức lại “không gặp khó khăn” sau khi đã tự xử lý</a:t>
            </a:r>
            <a:endParaRPr lang="en-US" sz="2100" dirty="0"/>
          </a:p>
        </p:txBody>
      </p:sp>
      <p:sp>
        <p:nvSpPr>
          <p:cNvPr id="9" name="Shape 7"/>
          <p:cNvSpPr/>
          <p:nvPr/>
        </p:nvSpPr>
        <p:spPr>
          <a:xfrm>
            <a:off x="6578561" y="3329702"/>
            <a:ext cx="5130761" cy="3222308"/>
          </a:xfrm>
          <a:prstGeom prst="roundRect">
            <a:avLst>
              <a:gd name="adj" fmla="val 2365"/>
            </a:avLst>
          </a:prstGeom>
          <a:solidFill>
            <a:srgbClr val="232532"/>
          </a:solidFill>
          <a:ln w="7620">
            <a:solidFill>
              <a:srgbClr val="E9E9ED">
                <a:alpha val="10000"/>
              </a:srgbClr>
            </a:solidFill>
            <a:prstDash val="solid"/>
          </a:ln>
        </p:spPr>
      </p:sp>
      <p:sp>
        <p:nvSpPr>
          <p:cNvPr id="10" name="Text 8"/>
          <p:cNvSpPr/>
          <p:nvPr/>
        </p:nvSpPr>
        <p:spPr>
          <a:xfrm>
            <a:off x="6967181" y="3718322"/>
            <a:ext cx="4788872"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DƯƠNG VĂN VŨ</a:t>
            </a:r>
            <a:endParaRPr lang="en-US" sz="1950" dirty="0"/>
          </a:p>
        </p:txBody>
      </p:sp>
      <p:sp>
        <p:nvSpPr>
          <p:cNvPr id="11" name="Text 9"/>
          <p:cNvSpPr/>
          <p:nvPr/>
        </p:nvSpPr>
        <p:spPr>
          <a:xfrm>
            <a:off x="6967181" y="4292680"/>
            <a:ext cx="4484126" cy="944880"/>
          </a:xfrm>
          <a:prstGeom prst="rect">
            <a:avLst/>
          </a:prstGeom>
          <a:noFill/>
          <a:ln/>
        </p:spPr>
        <p:txBody>
          <a:bodyPr wrap="square" lIns="25400" tIns="25400" rIns="25400" bIns="25400" rtlCol="0" anchor="t">
            <a:normAutofit/>
          </a:bodyPr>
          <a:lstStyle/>
          <a:p>
            <a:pPr algn="l" indent="0" marL="0">
              <a:lnSpc>
                <a:spcPct val="123958"/>
              </a:lnSpc>
              <a:buNone/>
            </a:pPr>
            <a:r>
              <a:rPr lang="en-US" sz="2550" dirty="0">
                <a:solidFill>
                  <a:srgbClr val="E9E9ED"/>
                </a:solidFill>
                <a:latin typeface="Arial" pitchFamily="34" charset="0"/>
                <a:ea typeface="Arial" pitchFamily="34" charset="-122"/>
                <a:cs typeface="Arial" pitchFamily="34" charset="-120"/>
              </a:rPr>
              <a:t>Tìm thêm tài liệu ngoài khi slide chưa đủ rõ</a:t>
            </a:r>
            <a:endParaRPr lang="en-US" sz="2550" dirty="0"/>
          </a:p>
        </p:txBody>
      </p:sp>
      <p:sp>
        <p:nvSpPr>
          <p:cNvPr id="12" name="Text 10"/>
          <p:cNvSpPr/>
          <p:nvPr/>
        </p:nvSpPr>
        <p:spPr>
          <a:xfrm>
            <a:off x="6967181" y="5389959"/>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Chỉ xác nhận “có dùng”, chưa có tình huống cụ thể nào</a:t>
            </a:r>
            <a:endParaRPr lang="en-US" sz="2100" dirty="0"/>
          </a:p>
        </p:txBody>
      </p:sp>
      <p:sp>
        <p:nvSpPr>
          <p:cNvPr id="13" name="Shape 11"/>
          <p:cNvSpPr/>
          <p:nvPr/>
        </p:nvSpPr>
        <p:spPr>
          <a:xfrm>
            <a:off x="12014121" y="3329702"/>
            <a:ext cx="5130761" cy="3222308"/>
          </a:xfrm>
          <a:prstGeom prst="roundRect">
            <a:avLst>
              <a:gd name="adj" fmla="val 2365"/>
            </a:avLst>
          </a:prstGeom>
          <a:solidFill>
            <a:srgbClr val="232532"/>
          </a:solidFill>
          <a:ln w="7620">
            <a:solidFill>
              <a:srgbClr val="E9E9ED">
                <a:alpha val="10000"/>
              </a:srgbClr>
            </a:solidFill>
            <a:prstDash val="solid"/>
          </a:ln>
        </p:spPr>
      </p:sp>
      <p:sp>
        <p:nvSpPr>
          <p:cNvPr id="14" name="Text 12"/>
          <p:cNvSpPr/>
          <p:nvPr/>
        </p:nvSpPr>
        <p:spPr>
          <a:xfrm>
            <a:off x="12402741" y="3718322"/>
            <a:ext cx="4788872"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PHẠM KHÁNH LINH</a:t>
            </a:r>
            <a:endParaRPr lang="en-US" sz="1950" dirty="0"/>
          </a:p>
        </p:txBody>
      </p:sp>
      <p:sp>
        <p:nvSpPr>
          <p:cNvPr id="15" name="Text 13"/>
          <p:cNvSpPr/>
          <p:nvPr/>
        </p:nvSpPr>
        <p:spPr>
          <a:xfrm>
            <a:off x="12402741" y="4292680"/>
            <a:ext cx="4484126" cy="944880"/>
          </a:xfrm>
          <a:prstGeom prst="rect">
            <a:avLst/>
          </a:prstGeom>
          <a:noFill/>
          <a:ln/>
        </p:spPr>
        <p:txBody>
          <a:bodyPr wrap="square" lIns="25400" tIns="25400" rIns="25400" bIns="25400" rtlCol="0" anchor="t">
            <a:normAutofit/>
          </a:bodyPr>
          <a:lstStyle/>
          <a:p>
            <a:pPr algn="l" indent="0" marL="0">
              <a:lnSpc>
                <a:spcPct val="123958"/>
              </a:lnSpc>
              <a:buNone/>
            </a:pPr>
            <a:r>
              <a:rPr lang="en-US" sz="2550" dirty="0">
                <a:solidFill>
                  <a:srgbClr val="E9E9ED"/>
                </a:solidFill>
                <a:latin typeface="Arial" pitchFamily="34" charset="0"/>
                <a:ea typeface="Arial" pitchFamily="34" charset="-122"/>
                <a:cs typeface="Arial" pitchFamily="34" charset="-120"/>
              </a:rPr>
              <a:t>Mở lại slide rồi Ctrl+F, khoảng 20–30 phút mỗi lần</a:t>
            </a:r>
            <a:endParaRPr lang="en-US" sz="2550" dirty="0"/>
          </a:p>
        </p:txBody>
      </p:sp>
      <p:sp>
        <p:nvSpPr>
          <p:cNvPr id="16" name="Text 14"/>
          <p:cNvSpPr/>
          <p:nvPr/>
        </p:nvSpPr>
        <p:spPr>
          <a:xfrm>
            <a:off x="12402741" y="5389959"/>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Con số duy nhất đo được về mức tốn công</a:t>
            </a:r>
            <a:endParaRPr lang="en-US" sz="2100" dirty="0"/>
          </a:p>
        </p:txBody>
      </p:sp>
      <p:sp>
        <p:nvSpPr>
          <p:cNvPr id="17" name="Text 15"/>
          <p:cNvSpPr/>
          <p:nvPr/>
        </p:nvSpPr>
        <p:spPr>
          <a:xfrm>
            <a:off x="1143000" y="7039689"/>
            <a:ext cx="3092041"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CHƯA CHỨNG MINH</a:t>
            </a:r>
            <a:endParaRPr lang="en-US" sz="1950" dirty="0"/>
          </a:p>
        </p:txBody>
      </p:sp>
      <p:sp>
        <p:nvSpPr>
          <p:cNvPr id="18" name="Text 16"/>
          <p:cNvSpPr/>
          <p:nvPr/>
        </p:nvSpPr>
        <p:spPr>
          <a:xfrm>
            <a:off x="4182547" y="7009209"/>
            <a:ext cx="13351328"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CFD0D8"/>
                </a:solidFill>
                <a:latin typeface="Arial" pitchFamily="34" charset="0"/>
                <a:ea typeface="Arial" pitchFamily="34" charset="-122"/>
                <a:cs typeface="Arial" pitchFamily="34" charset="-120"/>
              </a:rPr>
              <a:t>Hậu quả thật chưa ai xác nhận; cả ba buổi đều hỏi thói quen chung, chưa neo vào tình huống “vài ngày sau”.</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02 · LÝ DO CHỌN HƯỚNG GIẢI</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Ba cách giải thích cho cùng một hành vi</a:t>
            </a:r>
            <a:endParaRPr lang="en-US" sz="4800" dirty="0"/>
          </a:p>
        </p:txBody>
      </p:sp>
      <p:sp>
        <p:nvSpPr>
          <p:cNvPr id="4" name="Shape 2"/>
          <p:cNvSpPr/>
          <p:nvPr/>
        </p:nvSpPr>
        <p:spPr>
          <a:xfrm>
            <a:off x="1143000" y="2734389"/>
            <a:ext cx="16002000" cy="9525"/>
          </a:xfrm>
          <a:prstGeom prst="rect">
            <a:avLst/>
          </a:prstGeom>
          <a:solidFill>
            <a:srgbClr val="9184D9">
              <a:alpha val="45000"/>
            </a:srgbClr>
          </a:solidFill>
          <a:ln/>
        </p:spPr>
      </p:sp>
      <p:sp>
        <p:nvSpPr>
          <p:cNvPr id="5" name="Text 3"/>
          <p:cNvSpPr/>
          <p:nvPr/>
        </p:nvSpPr>
        <p:spPr>
          <a:xfrm>
            <a:off x="1143000" y="3046809"/>
            <a:ext cx="933450"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B5ABFC"/>
                </a:solidFill>
                <a:latin typeface="Arial" pitchFamily="34" charset="0"/>
                <a:ea typeface="Arial" pitchFamily="34" charset="-122"/>
                <a:cs typeface="Arial" pitchFamily="34" charset="-120"/>
              </a:rPr>
              <a:t>A</a:t>
            </a:r>
            <a:endParaRPr lang="en-US" sz="3300" dirty="0"/>
          </a:p>
        </p:txBody>
      </p:sp>
      <p:sp>
        <p:nvSpPr>
          <p:cNvPr id="6" name="Text 4"/>
          <p:cNvSpPr/>
          <p:nvPr/>
        </p:nvSpPr>
        <p:spPr>
          <a:xfrm>
            <a:off x="2381250" y="3130630"/>
            <a:ext cx="3352800"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E9E9ED"/>
                </a:solidFill>
                <a:latin typeface="Arial" pitchFamily="34" charset="0"/>
                <a:ea typeface="Arial" pitchFamily="34" charset="-122"/>
                <a:cs typeface="Arial" pitchFamily="34" charset="-120"/>
              </a:rPr>
              <a:t>Vấn đề ở TÌM</a:t>
            </a:r>
            <a:endParaRPr lang="en-US" sz="2700" dirty="0"/>
          </a:p>
        </p:txBody>
      </p:sp>
      <p:sp>
        <p:nvSpPr>
          <p:cNvPr id="7" name="Text 5"/>
          <p:cNvSpPr/>
          <p:nvPr/>
        </p:nvSpPr>
        <p:spPr>
          <a:xfrm>
            <a:off x="5810250" y="3222069"/>
            <a:ext cx="8905875" cy="4381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CFD0D8"/>
                </a:solidFill>
                <a:latin typeface="Arial" pitchFamily="34" charset="0"/>
                <a:ea typeface="Arial" pitchFamily="34" charset="-122"/>
                <a:cs typeface="Arial" pitchFamily="34" charset="-120"/>
              </a:rPr>
              <a:t>Nội dung rải nhiều nơi, không có điểm vào rõ ràng</a:t>
            </a:r>
            <a:endParaRPr lang="en-US" sz="2250" dirty="0"/>
          </a:p>
        </p:txBody>
      </p:sp>
      <p:sp>
        <p:nvSpPr>
          <p:cNvPr id="8" name="Text 6"/>
          <p:cNvSpPr/>
          <p:nvPr/>
        </p:nvSpPr>
        <p:spPr>
          <a:xfrm>
            <a:off x="14287500" y="3214449"/>
            <a:ext cx="314325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B5ABFC"/>
                </a:solidFill>
                <a:latin typeface="Arial" pitchFamily="34" charset="0"/>
                <a:ea typeface="Arial" pitchFamily="34" charset="-122"/>
                <a:cs typeface="Arial" pitchFamily="34" charset="-120"/>
              </a:rPr>
              <a:t>Chọn điều tra trước</a:t>
            </a:r>
            <a:endParaRPr lang="en-US" sz="2100" dirty="0"/>
          </a:p>
        </p:txBody>
      </p:sp>
      <p:sp>
        <p:nvSpPr>
          <p:cNvPr id="9" name="Shape 7"/>
          <p:cNvSpPr/>
          <p:nvPr/>
        </p:nvSpPr>
        <p:spPr>
          <a:xfrm>
            <a:off x="1143000" y="4001214"/>
            <a:ext cx="16002000" cy="9525"/>
          </a:xfrm>
          <a:prstGeom prst="rect">
            <a:avLst/>
          </a:prstGeom>
          <a:solidFill>
            <a:srgbClr val="E9E9ED">
              <a:alpha val="14000"/>
            </a:srgbClr>
          </a:solidFill>
          <a:ln/>
        </p:spPr>
      </p:sp>
      <p:sp>
        <p:nvSpPr>
          <p:cNvPr id="10" name="Text 8"/>
          <p:cNvSpPr/>
          <p:nvPr/>
        </p:nvSpPr>
        <p:spPr>
          <a:xfrm>
            <a:off x="1143000" y="4313634"/>
            <a:ext cx="933450"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7972A9"/>
                </a:solidFill>
                <a:latin typeface="Arial" pitchFamily="34" charset="0"/>
                <a:ea typeface="Arial" pitchFamily="34" charset="-122"/>
                <a:cs typeface="Arial" pitchFamily="34" charset="-120"/>
              </a:rPr>
              <a:t>B</a:t>
            </a:r>
            <a:endParaRPr lang="en-US" sz="3300" dirty="0"/>
          </a:p>
        </p:txBody>
      </p:sp>
      <p:sp>
        <p:nvSpPr>
          <p:cNvPr id="11" name="Text 9"/>
          <p:cNvSpPr/>
          <p:nvPr/>
        </p:nvSpPr>
        <p:spPr>
          <a:xfrm>
            <a:off x="2381250" y="4397455"/>
            <a:ext cx="3352800"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E9E9ED"/>
                </a:solidFill>
                <a:latin typeface="Arial" pitchFamily="34" charset="0"/>
                <a:ea typeface="Arial" pitchFamily="34" charset="-122"/>
                <a:cs typeface="Arial" pitchFamily="34" charset="-120"/>
              </a:rPr>
              <a:t>Vấn đề ở HIỂU</a:t>
            </a:r>
            <a:endParaRPr lang="en-US" sz="2700" dirty="0"/>
          </a:p>
        </p:txBody>
      </p:sp>
      <p:sp>
        <p:nvSpPr>
          <p:cNvPr id="12" name="Text 10"/>
          <p:cNvSpPr/>
          <p:nvPr/>
        </p:nvSpPr>
        <p:spPr>
          <a:xfrm>
            <a:off x="5810250" y="4488894"/>
            <a:ext cx="8339137"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CFD0D8"/>
                </a:solidFill>
                <a:latin typeface="Arial" pitchFamily="34" charset="0"/>
                <a:ea typeface="Arial" pitchFamily="34" charset="-122"/>
                <a:cs typeface="Arial" pitchFamily="34" charset="-120"/>
              </a:rPr>
              <a:t>Tìm lại được nhưng vẫn không hiểu, vì vốn đã không hiểu từ lúc học</a:t>
            </a:r>
            <a:endParaRPr lang="en-US" sz="2250" dirty="0"/>
          </a:p>
        </p:txBody>
      </p:sp>
      <p:sp>
        <p:nvSpPr>
          <p:cNvPr id="13" name="Text 11"/>
          <p:cNvSpPr/>
          <p:nvPr/>
        </p:nvSpPr>
        <p:spPr>
          <a:xfrm>
            <a:off x="14287500" y="4481274"/>
            <a:ext cx="314325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Chưa loại trừ</a:t>
            </a:r>
            <a:endParaRPr lang="en-US" sz="2100" dirty="0"/>
          </a:p>
        </p:txBody>
      </p:sp>
      <p:sp>
        <p:nvSpPr>
          <p:cNvPr id="14" name="Shape 12"/>
          <p:cNvSpPr/>
          <p:nvPr/>
        </p:nvSpPr>
        <p:spPr>
          <a:xfrm>
            <a:off x="1143000" y="6860620"/>
            <a:ext cx="16002000" cy="9525"/>
          </a:xfrm>
          <a:prstGeom prst="rect">
            <a:avLst/>
          </a:prstGeom>
          <a:solidFill>
            <a:srgbClr val="E9E9ED">
              <a:alpha val="14000"/>
            </a:srgbClr>
          </a:solidFill>
          <a:ln/>
        </p:spPr>
      </p:sp>
      <p:sp>
        <p:nvSpPr>
          <p:cNvPr id="15" name="Shape 13"/>
          <p:cNvSpPr/>
          <p:nvPr/>
        </p:nvSpPr>
        <p:spPr>
          <a:xfrm>
            <a:off x="1143000" y="5593795"/>
            <a:ext cx="16002000" cy="9525"/>
          </a:xfrm>
          <a:prstGeom prst="rect">
            <a:avLst/>
          </a:prstGeom>
          <a:solidFill>
            <a:srgbClr val="E9E9ED">
              <a:alpha val="14000"/>
            </a:srgbClr>
          </a:solidFill>
          <a:ln/>
        </p:spPr>
      </p:sp>
      <p:sp>
        <p:nvSpPr>
          <p:cNvPr id="16" name="Text 14"/>
          <p:cNvSpPr/>
          <p:nvPr/>
        </p:nvSpPr>
        <p:spPr>
          <a:xfrm>
            <a:off x="1143000" y="5906214"/>
            <a:ext cx="933450" cy="687705"/>
          </a:xfrm>
          <a:prstGeom prst="rect">
            <a:avLst/>
          </a:prstGeom>
          <a:noFill/>
          <a:ln/>
        </p:spPr>
        <p:txBody>
          <a:bodyPr wrap="square" lIns="25400" tIns="25400" rIns="25400" bIns="25400" rtlCol="0" anchor="t">
            <a:normAutofit/>
          </a:bodyPr>
          <a:lstStyle/>
          <a:p>
            <a:pPr algn="l" indent="0" marL="0">
              <a:lnSpc>
                <a:spcPct val="133203"/>
              </a:lnSpc>
              <a:buNone/>
            </a:pPr>
            <a:r>
              <a:rPr lang="en-US" sz="3300" dirty="0">
                <a:solidFill>
                  <a:srgbClr val="7972A9"/>
                </a:solidFill>
                <a:latin typeface="Arial" pitchFamily="34" charset="0"/>
                <a:ea typeface="Arial" pitchFamily="34" charset="-122"/>
                <a:cs typeface="Arial" pitchFamily="34" charset="-120"/>
              </a:rPr>
              <a:t>C</a:t>
            </a:r>
            <a:endParaRPr lang="en-US" sz="3300" dirty="0"/>
          </a:p>
        </p:txBody>
      </p:sp>
      <p:sp>
        <p:nvSpPr>
          <p:cNvPr id="17" name="Text 15"/>
          <p:cNvSpPr/>
          <p:nvPr/>
        </p:nvSpPr>
        <p:spPr>
          <a:xfrm>
            <a:off x="2381250" y="5990034"/>
            <a:ext cx="3352800"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E9E9ED"/>
                </a:solidFill>
                <a:latin typeface="Arial" pitchFamily="34" charset="0"/>
                <a:ea typeface="Arial" pitchFamily="34" charset="-122"/>
                <a:cs typeface="Arial" pitchFamily="34" charset="-120"/>
              </a:rPr>
              <a:t>Không có pain</a:t>
            </a:r>
            <a:endParaRPr lang="en-US" sz="2700" dirty="0"/>
          </a:p>
        </p:txBody>
      </p:sp>
      <p:sp>
        <p:nvSpPr>
          <p:cNvPr id="18" name="Text 16"/>
          <p:cNvSpPr/>
          <p:nvPr/>
        </p:nvSpPr>
        <p:spPr>
          <a:xfrm>
            <a:off x="5810250" y="6081475"/>
            <a:ext cx="8905875" cy="4381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CFD0D8"/>
                </a:solidFill>
                <a:latin typeface="Arial" pitchFamily="34" charset="0"/>
                <a:ea typeface="Arial" pitchFamily="34" charset="-122"/>
                <a:cs typeface="Arial" pitchFamily="34" charset="-120"/>
              </a:rPr>
              <a:t>Tìm lại nhanh, không thấy phiền, không có hậu quả đáng kể</a:t>
            </a:r>
            <a:endParaRPr lang="en-US" sz="2250" dirty="0"/>
          </a:p>
        </p:txBody>
      </p:sp>
      <p:sp>
        <p:nvSpPr>
          <p:cNvPr id="19" name="Text 17"/>
          <p:cNvSpPr/>
          <p:nvPr/>
        </p:nvSpPr>
        <p:spPr>
          <a:xfrm>
            <a:off x="14287500" y="6073854"/>
            <a:ext cx="314325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Chưa loại trừ</a:t>
            </a:r>
            <a:endParaRPr lang="en-US" sz="2100" dirty="0"/>
          </a:p>
        </p:txBody>
      </p:sp>
      <p:sp>
        <p:nvSpPr>
          <p:cNvPr id="20" name="Text 18"/>
          <p:cNvSpPr/>
          <p:nvPr/>
        </p:nvSpPr>
        <p:spPr>
          <a:xfrm>
            <a:off x="1143000" y="7325439"/>
            <a:ext cx="13735050"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A7A8B4"/>
                </a:solidFill>
                <a:latin typeface="Arial" pitchFamily="34" charset="0"/>
                <a:ea typeface="Arial" pitchFamily="34" charset="-122"/>
                <a:cs typeface="Arial" pitchFamily="34" charset="-120"/>
              </a:rPr>
              <a:t>Chọn A vì đây là barrier duy nhất có evidence hành vi ở cả ba note. Evidence hiện có lại nghiêng về “không thấy khó tìm”, nên B và C vẫn ở trên bàn.</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62A60">
                  <a:alpha val="100000"/>
                </a:srgbClr>
              </a:gs>
              <a:gs pos="55000">
                <a:srgbClr val="1A1C2D">
                  <a:alpha val="100000"/>
                </a:srgbClr>
              </a:gs>
              <a:gs pos="100000">
                <a:srgbClr val="161826">
                  <a:alpha val="100000"/>
                </a:srgbClr>
              </a:gs>
            </a:gsLst>
            <a:path path="circle">
              <a:fillToRect l="0" t="100000" r="100000" b="0"/>
            </a:path>
          </a:gradFill>
          <a:ln/>
        </p:spPr>
      </p:sp>
      <p:sp>
        <p:nvSpPr>
          <p:cNvPr id="3" name="Text 1"/>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02 · LÝ DO CHỌN HƯỚNG GIẢI</a:t>
            </a:r>
            <a:endParaRPr lang="en-US" sz="2100" dirty="0"/>
          </a:p>
        </p:txBody>
      </p:sp>
      <p:sp>
        <p:nvSpPr>
          <p:cNvPr id="4" name="Text 2"/>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Từ năm hướng xuống ba option</a:t>
            </a:r>
            <a:endParaRPr lang="en-US" sz="4800" dirty="0"/>
          </a:p>
        </p:txBody>
      </p:sp>
      <p:sp>
        <p:nvSpPr>
          <p:cNvPr id="5" name="Text 3"/>
          <p:cNvSpPr/>
          <p:nvPr/>
        </p:nvSpPr>
        <p:spPr>
          <a:xfrm>
            <a:off x="1143000" y="3135868"/>
            <a:ext cx="6496050"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SOLUTION PARKING LOT</a:t>
            </a:r>
            <a:endParaRPr lang="en-US" sz="1950" dirty="0"/>
          </a:p>
        </p:txBody>
      </p:sp>
      <p:sp>
        <p:nvSpPr>
          <p:cNvPr id="6" name="Text 4"/>
          <p:cNvSpPr/>
          <p:nvPr/>
        </p:nvSpPr>
        <p:spPr>
          <a:xfrm>
            <a:off x="1143000" y="3767376"/>
            <a:ext cx="649605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Tự động tổng hợp theo chủ đề</a:t>
            </a:r>
            <a:endParaRPr lang="en-US" sz="2250" dirty="0"/>
          </a:p>
        </p:txBody>
      </p:sp>
      <p:sp>
        <p:nvSpPr>
          <p:cNvPr id="7" name="Text 5"/>
          <p:cNvSpPr/>
          <p:nvPr/>
        </p:nvSpPr>
        <p:spPr>
          <a:xfrm>
            <a:off x="1143000" y="4381738"/>
            <a:ext cx="649605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Gợi ý ý chính để học viên chọn</a:t>
            </a:r>
            <a:endParaRPr lang="en-US" sz="2250" dirty="0"/>
          </a:p>
        </p:txBody>
      </p:sp>
      <p:sp>
        <p:nvSpPr>
          <p:cNvPr id="8" name="Text 6"/>
          <p:cNvSpPr/>
          <p:nvPr/>
        </p:nvSpPr>
        <p:spPr>
          <a:xfrm>
            <a:off x="1143000" y="4996101"/>
            <a:ext cx="649605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7A7B87"/>
                </a:solidFill>
                <a:latin typeface="Arial" pitchFamily="34" charset="0"/>
                <a:ea typeface="Arial" pitchFamily="34" charset="-122"/>
                <a:cs typeface="Arial" pitchFamily="34" charset="-120"/>
              </a:rPr>
              <a:t>Tạo flashcard ôn tập</a:t>
            </a:r>
            <a:endParaRPr lang="en-US" sz="2250" dirty="0"/>
          </a:p>
        </p:txBody>
      </p:sp>
      <p:sp>
        <p:nvSpPr>
          <p:cNvPr id="9" name="Text 7"/>
          <p:cNvSpPr/>
          <p:nvPr/>
        </p:nvSpPr>
        <p:spPr>
          <a:xfrm>
            <a:off x="1143000" y="5610463"/>
            <a:ext cx="649605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Mẫu ghi chú tự kéo thả — không AI</a:t>
            </a:r>
            <a:endParaRPr lang="en-US" sz="2250" dirty="0"/>
          </a:p>
        </p:txBody>
      </p:sp>
      <p:sp>
        <p:nvSpPr>
          <p:cNvPr id="10" name="Text 8"/>
          <p:cNvSpPr/>
          <p:nvPr/>
        </p:nvSpPr>
        <p:spPr>
          <a:xfrm>
            <a:off x="1143000" y="6224826"/>
            <a:ext cx="649605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7A7B87"/>
                </a:solidFill>
                <a:latin typeface="Arial" pitchFamily="34" charset="0"/>
                <a:ea typeface="Arial" pitchFamily="34" charset="-122"/>
                <a:cs typeface="Arial" pitchFamily="34" charset="-120"/>
              </a:rPr>
              <a:t>Lưu theo bài kèm nhắc xem lại — không AI</a:t>
            </a:r>
            <a:endParaRPr lang="en-US" sz="2250" dirty="0"/>
          </a:p>
        </p:txBody>
      </p:sp>
      <p:sp>
        <p:nvSpPr>
          <p:cNvPr id="11" name="Text 9"/>
          <p:cNvSpPr/>
          <p:nvPr/>
        </p:nvSpPr>
        <p:spPr>
          <a:xfrm>
            <a:off x="7658100" y="4370308"/>
            <a:ext cx="762000" cy="1101090"/>
          </a:xfrm>
          <a:prstGeom prst="rect">
            <a:avLst/>
          </a:prstGeom>
          <a:noFill/>
          <a:ln/>
        </p:spPr>
        <p:txBody>
          <a:bodyPr wrap="square" lIns="25400" tIns="25400" rIns="25400" bIns="25400" rtlCol="0" anchor="t">
            <a:normAutofit/>
          </a:bodyPr>
          <a:lstStyle/>
          <a:p>
            <a:pPr algn="l" indent="0" marL="0">
              <a:lnSpc>
                <a:spcPct val="135437"/>
              </a:lnSpc>
              <a:buNone/>
            </a:pPr>
            <a:r>
              <a:rPr lang="en-US" sz="5400" dirty="0">
                <a:solidFill>
                  <a:srgbClr val="5D5294"/>
                </a:solidFill>
                <a:latin typeface="Arial" pitchFamily="34" charset="0"/>
                <a:ea typeface="Arial" pitchFamily="34" charset="-122"/>
                <a:cs typeface="Arial" pitchFamily="34" charset="-120"/>
              </a:rPr>
              <a:t>→</a:t>
            </a:r>
            <a:endParaRPr lang="en-US" sz="5400" dirty="0"/>
          </a:p>
        </p:txBody>
      </p:sp>
      <p:sp>
        <p:nvSpPr>
          <p:cNvPr id="12" name="Text 10"/>
          <p:cNvSpPr/>
          <p:nvPr/>
        </p:nvSpPr>
        <p:spPr>
          <a:xfrm>
            <a:off x="8953500" y="2734389"/>
            <a:ext cx="9010650"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BA VỊ TRÍ TRÊN SPECTRUM AGENCY</a:t>
            </a:r>
            <a:endParaRPr lang="en-US" sz="1950" dirty="0"/>
          </a:p>
        </p:txBody>
      </p:sp>
      <p:sp>
        <p:nvSpPr>
          <p:cNvPr id="13" name="Shape 11"/>
          <p:cNvSpPr/>
          <p:nvPr/>
        </p:nvSpPr>
        <p:spPr>
          <a:xfrm>
            <a:off x="8953500" y="3423047"/>
            <a:ext cx="8191500" cy="1062990"/>
          </a:xfrm>
          <a:prstGeom prst="roundRect">
            <a:avLst>
              <a:gd name="adj" fmla="val 7168"/>
            </a:avLst>
          </a:prstGeom>
          <a:solidFill>
            <a:srgbClr val="423A6A">
              <a:alpha val="35000"/>
            </a:srgbClr>
          </a:solidFill>
          <a:ln w="7620">
            <a:solidFill>
              <a:srgbClr val="9184D9">
                <a:alpha val="30000"/>
              </a:srgbClr>
            </a:solidFill>
            <a:prstDash val="solid"/>
          </a:ln>
        </p:spPr>
      </p:sp>
      <p:sp>
        <p:nvSpPr>
          <p:cNvPr id="14" name="Text 12"/>
          <p:cNvSpPr/>
          <p:nvPr/>
        </p:nvSpPr>
        <p:spPr>
          <a:xfrm>
            <a:off x="9265920" y="3659267"/>
            <a:ext cx="339090"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A</a:t>
            </a:r>
            <a:endParaRPr lang="en-US" sz="3000" dirty="0"/>
          </a:p>
        </p:txBody>
      </p:sp>
      <p:sp>
        <p:nvSpPr>
          <p:cNvPr id="15" name="Text 13"/>
          <p:cNvSpPr/>
          <p:nvPr/>
        </p:nvSpPr>
        <p:spPr>
          <a:xfrm>
            <a:off x="9795510" y="3718322"/>
            <a:ext cx="3548468"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E9E9ED"/>
                </a:solidFill>
                <a:latin typeface="Arial" pitchFamily="34" charset="0"/>
                <a:ea typeface="Arial" pitchFamily="34" charset="-122"/>
                <a:cs typeface="Arial" pitchFamily="34" charset="-120"/>
              </a:rPr>
              <a:t>User creates / initiates</a:t>
            </a:r>
            <a:endParaRPr lang="en-US" sz="2400" dirty="0"/>
          </a:p>
        </p:txBody>
      </p:sp>
      <p:sp>
        <p:nvSpPr>
          <p:cNvPr id="16" name="Shape 14"/>
          <p:cNvSpPr/>
          <p:nvPr/>
        </p:nvSpPr>
        <p:spPr>
          <a:xfrm>
            <a:off x="8953500" y="4714637"/>
            <a:ext cx="8191500" cy="1062990"/>
          </a:xfrm>
          <a:prstGeom prst="roundRect">
            <a:avLst>
              <a:gd name="adj" fmla="val 7168"/>
            </a:avLst>
          </a:prstGeom>
          <a:solidFill>
            <a:srgbClr val="423A6A">
              <a:alpha val="35000"/>
            </a:srgbClr>
          </a:solidFill>
          <a:ln w="7620">
            <a:solidFill>
              <a:srgbClr val="9184D9">
                <a:alpha val="30000"/>
              </a:srgbClr>
            </a:solidFill>
            <a:prstDash val="solid"/>
          </a:ln>
        </p:spPr>
      </p:sp>
      <p:sp>
        <p:nvSpPr>
          <p:cNvPr id="17" name="Text 15"/>
          <p:cNvSpPr/>
          <p:nvPr/>
        </p:nvSpPr>
        <p:spPr>
          <a:xfrm>
            <a:off x="9265920" y="4950857"/>
            <a:ext cx="325517"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B</a:t>
            </a:r>
            <a:endParaRPr lang="en-US" sz="3000" dirty="0"/>
          </a:p>
        </p:txBody>
      </p:sp>
      <p:sp>
        <p:nvSpPr>
          <p:cNvPr id="18" name="Text 16"/>
          <p:cNvSpPr/>
          <p:nvPr/>
        </p:nvSpPr>
        <p:spPr>
          <a:xfrm>
            <a:off x="9781937" y="5009912"/>
            <a:ext cx="3122164"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E9E9ED"/>
                </a:solidFill>
                <a:latin typeface="Arial" pitchFamily="34" charset="0"/>
                <a:ea typeface="Arial" pitchFamily="34" charset="-122"/>
                <a:cs typeface="Arial" pitchFamily="34" charset="-120"/>
              </a:rPr>
              <a:t>User + AI co-create</a:t>
            </a:r>
            <a:endParaRPr lang="en-US" sz="2400" dirty="0"/>
          </a:p>
        </p:txBody>
      </p:sp>
      <p:sp>
        <p:nvSpPr>
          <p:cNvPr id="19" name="Shape 17"/>
          <p:cNvSpPr/>
          <p:nvPr/>
        </p:nvSpPr>
        <p:spPr>
          <a:xfrm>
            <a:off x="8953500" y="6006227"/>
            <a:ext cx="8191500" cy="1062990"/>
          </a:xfrm>
          <a:prstGeom prst="roundRect">
            <a:avLst>
              <a:gd name="adj" fmla="val 7168"/>
            </a:avLst>
          </a:prstGeom>
          <a:solidFill>
            <a:srgbClr val="423A6A">
              <a:alpha val="35000"/>
            </a:srgbClr>
          </a:solidFill>
          <a:ln w="7620">
            <a:solidFill>
              <a:srgbClr val="9184D9">
                <a:alpha val="30000"/>
              </a:srgbClr>
            </a:solidFill>
            <a:prstDash val="solid"/>
          </a:ln>
        </p:spPr>
      </p:sp>
      <p:sp>
        <p:nvSpPr>
          <p:cNvPr id="20" name="Text 18"/>
          <p:cNvSpPr/>
          <p:nvPr/>
        </p:nvSpPr>
        <p:spPr>
          <a:xfrm>
            <a:off x="9265920" y="6242447"/>
            <a:ext cx="354568"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C</a:t>
            </a:r>
            <a:endParaRPr lang="en-US" sz="3000" dirty="0"/>
          </a:p>
        </p:txBody>
      </p:sp>
      <p:sp>
        <p:nvSpPr>
          <p:cNvPr id="21" name="Text 19"/>
          <p:cNvSpPr/>
          <p:nvPr/>
        </p:nvSpPr>
        <p:spPr>
          <a:xfrm>
            <a:off x="9810988" y="6301502"/>
            <a:ext cx="5323749"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E9E9ED"/>
                </a:solidFill>
                <a:latin typeface="Arial" pitchFamily="34" charset="0"/>
                <a:ea typeface="Arial" pitchFamily="34" charset="-122"/>
                <a:cs typeface="Arial" pitchFamily="34" charset="-120"/>
              </a:rPr>
              <a:t>AI creates / initiates, user reviews</a:t>
            </a:r>
            <a:endParaRPr lang="en-US" sz="2400" dirty="0"/>
          </a:p>
        </p:txBody>
      </p:sp>
      <p:sp>
        <p:nvSpPr>
          <p:cNvPr id="22" name="Text 20"/>
          <p:cNvSpPr/>
          <p:nvPr/>
        </p:nvSpPr>
        <p:spPr>
          <a:xfrm>
            <a:off x="1143000" y="7488317"/>
            <a:ext cx="15716250" cy="42481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Giữ nguyên cho cả ba: cùng target user, cùng situation, cùng task, cùng bộ input. Chỉ khác ai làm việc tổng hợp.</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03 · BA OPTION TEST</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Ba option đã dựng prototype</a:t>
            </a:r>
            <a:endParaRPr lang="en-US" sz="4800" dirty="0"/>
          </a:p>
        </p:txBody>
      </p:sp>
      <p:sp>
        <p:nvSpPr>
          <p:cNvPr id="4" name="Shape 2"/>
          <p:cNvSpPr/>
          <p:nvPr/>
        </p:nvSpPr>
        <p:spPr>
          <a:xfrm>
            <a:off x="1143000" y="3515440"/>
            <a:ext cx="2095500" cy="9525"/>
          </a:xfrm>
          <a:prstGeom prst="rect">
            <a:avLst/>
          </a:prstGeom>
          <a:solidFill>
            <a:srgbClr val="9184D9">
              <a:alpha val="45000"/>
            </a:srgbClr>
          </a:solidFill>
          <a:ln/>
        </p:spPr>
      </p:sp>
      <p:sp>
        <p:nvSpPr>
          <p:cNvPr id="5" name="Text 3"/>
          <p:cNvSpPr/>
          <p:nvPr/>
        </p:nvSpPr>
        <p:spPr>
          <a:xfrm>
            <a:off x="1143000" y="2734389"/>
            <a:ext cx="2171700" cy="628650"/>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THÀNH PHẦN</a:t>
            </a:r>
            <a:endParaRPr lang="en-US" sz="1950" dirty="0"/>
          </a:p>
        </p:txBody>
      </p:sp>
      <p:sp>
        <p:nvSpPr>
          <p:cNvPr id="6" name="Shape 4"/>
          <p:cNvSpPr/>
          <p:nvPr/>
        </p:nvSpPr>
        <p:spPr>
          <a:xfrm>
            <a:off x="3619500" y="3515440"/>
            <a:ext cx="4254460" cy="9525"/>
          </a:xfrm>
          <a:prstGeom prst="rect">
            <a:avLst/>
          </a:prstGeom>
          <a:solidFill>
            <a:srgbClr val="9184D9">
              <a:alpha val="45000"/>
            </a:srgbClr>
          </a:solidFill>
          <a:ln/>
        </p:spPr>
      </p:sp>
      <p:sp>
        <p:nvSpPr>
          <p:cNvPr id="7" name="Text 5"/>
          <p:cNvSpPr/>
          <p:nvPr/>
        </p:nvSpPr>
        <p:spPr>
          <a:xfrm>
            <a:off x="3619500" y="2734389"/>
            <a:ext cx="4382094"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A</a:t>
            </a:r>
            <a:endParaRPr lang="en-US" sz="3000" dirty="0"/>
          </a:p>
        </p:txBody>
      </p:sp>
      <p:sp>
        <p:nvSpPr>
          <p:cNvPr id="8" name="Shape 6"/>
          <p:cNvSpPr/>
          <p:nvPr/>
        </p:nvSpPr>
        <p:spPr>
          <a:xfrm>
            <a:off x="8254961" y="3515440"/>
            <a:ext cx="4254460" cy="9525"/>
          </a:xfrm>
          <a:prstGeom prst="rect">
            <a:avLst/>
          </a:prstGeom>
          <a:solidFill>
            <a:srgbClr val="9184D9">
              <a:alpha val="45000"/>
            </a:srgbClr>
          </a:solidFill>
          <a:ln/>
        </p:spPr>
      </p:sp>
      <p:sp>
        <p:nvSpPr>
          <p:cNvPr id="9" name="Text 7"/>
          <p:cNvSpPr/>
          <p:nvPr/>
        </p:nvSpPr>
        <p:spPr>
          <a:xfrm>
            <a:off x="8254961" y="2734389"/>
            <a:ext cx="4382094"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B</a:t>
            </a:r>
            <a:endParaRPr lang="en-US" sz="3000" dirty="0"/>
          </a:p>
        </p:txBody>
      </p:sp>
      <p:sp>
        <p:nvSpPr>
          <p:cNvPr id="10" name="Shape 8"/>
          <p:cNvSpPr/>
          <p:nvPr/>
        </p:nvSpPr>
        <p:spPr>
          <a:xfrm>
            <a:off x="12890421" y="3515440"/>
            <a:ext cx="4254460" cy="9525"/>
          </a:xfrm>
          <a:prstGeom prst="rect">
            <a:avLst/>
          </a:prstGeom>
          <a:solidFill>
            <a:srgbClr val="9184D9">
              <a:alpha val="45000"/>
            </a:srgbClr>
          </a:solidFill>
          <a:ln/>
        </p:spPr>
      </p:sp>
      <p:sp>
        <p:nvSpPr>
          <p:cNvPr id="11" name="Text 9"/>
          <p:cNvSpPr/>
          <p:nvPr/>
        </p:nvSpPr>
        <p:spPr>
          <a:xfrm>
            <a:off x="12890421" y="2734389"/>
            <a:ext cx="4382094"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C</a:t>
            </a:r>
            <a:endParaRPr lang="en-US" sz="3000" dirty="0"/>
          </a:p>
        </p:txBody>
      </p:sp>
      <p:sp>
        <p:nvSpPr>
          <p:cNvPr id="12" name="Shape 10"/>
          <p:cNvSpPr/>
          <p:nvPr/>
        </p:nvSpPr>
        <p:spPr>
          <a:xfrm>
            <a:off x="1143000" y="4856559"/>
            <a:ext cx="2095500" cy="9525"/>
          </a:xfrm>
          <a:prstGeom prst="rect">
            <a:avLst/>
          </a:prstGeom>
          <a:solidFill>
            <a:srgbClr val="E9E9ED">
              <a:alpha val="12000"/>
            </a:srgbClr>
          </a:solidFill>
          <a:ln/>
        </p:spPr>
      </p:sp>
      <p:sp>
        <p:nvSpPr>
          <p:cNvPr id="13" name="Text 11"/>
          <p:cNvSpPr/>
          <p:nvPr/>
        </p:nvSpPr>
        <p:spPr>
          <a:xfrm>
            <a:off x="1143000" y="3789759"/>
            <a:ext cx="2171700" cy="83820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User làm gì</a:t>
            </a:r>
            <a:endParaRPr lang="en-US" sz="2100" dirty="0"/>
          </a:p>
        </p:txBody>
      </p:sp>
      <p:sp>
        <p:nvSpPr>
          <p:cNvPr id="14" name="Shape 12"/>
          <p:cNvSpPr/>
          <p:nvPr/>
        </p:nvSpPr>
        <p:spPr>
          <a:xfrm>
            <a:off x="3619500" y="4856559"/>
            <a:ext cx="4254460" cy="9525"/>
          </a:xfrm>
          <a:prstGeom prst="rect">
            <a:avLst/>
          </a:prstGeom>
          <a:solidFill>
            <a:srgbClr val="E9E9ED">
              <a:alpha val="12000"/>
            </a:srgbClr>
          </a:solidFill>
          <a:ln/>
        </p:spPr>
      </p:sp>
      <p:sp>
        <p:nvSpPr>
          <p:cNvPr id="15" name="Text 13"/>
          <p:cNvSpPr/>
          <p:nvPr/>
        </p:nvSpPr>
        <p:spPr>
          <a:xfrm>
            <a:off x="3619500" y="3789759"/>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Tự kéo/thả, phân loại và viết lại vào mẫu</a:t>
            </a:r>
            <a:endParaRPr lang="en-US" sz="2250" dirty="0"/>
          </a:p>
        </p:txBody>
      </p:sp>
      <p:sp>
        <p:nvSpPr>
          <p:cNvPr id="16" name="Shape 14"/>
          <p:cNvSpPr/>
          <p:nvPr/>
        </p:nvSpPr>
        <p:spPr>
          <a:xfrm>
            <a:off x="8254961" y="4856559"/>
            <a:ext cx="4254460" cy="9525"/>
          </a:xfrm>
          <a:prstGeom prst="rect">
            <a:avLst/>
          </a:prstGeom>
          <a:solidFill>
            <a:srgbClr val="E9E9ED">
              <a:alpha val="12000"/>
            </a:srgbClr>
          </a:solidFill>
          <a:ln/>
        </p:spPr>
      </p:sp>
      <p:sp>
        <p:nvSpPr>
          <p:cNvPr id="17" name="Text 15"/>
          <p:cNvSpPr/>
          <p:nvPr/>
        </p:nvSpPr>
        <p:spPr>
          <a:xfrm>
            <a:off x="8254961" y="3789759"/>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Nhận/bỏ từng gợi ý, sửa câu chữ, bổ sung phần thiếu</a:t>
            </a:r>
            <a:endParaRPr lang="en-US" sz="2250" dirty="0"/>
          </a:p>
        </p:txBody>
      </p:sp>
      <p:sp>
        <p:nvSpPr>
          <p:cNvPr id="18" name="Shape 16"/>
          <p:cNvSpPr/>
          <p:nvPr/>
        </p:nvSpPr>
        <p:spPr>
          <a:xfrm>
            <a:off x="12890421" y="4856559"/>
            <a:ext cx="4254460" cy="9525"/>
          </a:xfrm>
          <a:prstGeom prst="rect">
            <a:avLst/>
          </a:prstGeom>
          <a:solidFill>
            <a:srgbClr val="E9E9ED">
              <a:alpha val="12000"/>
            </a:srgbClr>
          </a:solidFill>
          <a:ln/>
        </p:spPr>
      </p:sp>
      <p:sp>
        <p:nvSpPr>
          <p:cNvPr id="19" name="Text 17"/>
          <p:cNvSpPr/>
          <p:nvPr/>
        </p:nvSpPr>
        <p:spPr>
          <a:xfrm>
            <a:off x="12890421" y="3789759"/>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Đọc lại bản nháp, sửa chỗ sai, xác nhận hoặc tạo lại</a:t>
            </a:r>
            <a:endParaRPr lang="en-US" sz="2250" dirty="0"/>
          </a:p>
        </p:txBody>
      </p:sp>
      <p:sp>
        <p:nvSpPr>
          <p:cNvPr id="20" name="Shape 18"/>
          <p:cNvSpPr/>
          <p:nvPr/>
        </p:nvSpPr>
        <p:spPr>
          <a:xfrm>
            <a:off x="1143000" y="6197680"/>
            <a:ext cx="2095500" cy="9525"/>
          </a:xfrm>
          <a:prstGeom prst="rect">
            <a:avLst/>
          </a:prstGeom>
          <a:solidFill>
            <a:srgbClr val="E9E9ED">
              <a:alpha val="12000"/>
            </a:srgbClr>
          </a:solidFill>
          <a:ln/>
        </p:spPr>
      </p:sp>
      <p:sp>
        <p:nvSpPr>
          <p:cNvPr id="21" name="Text 19"/>
          <p:cNvSpPr/>
          <p:nvPr/>
        </p:nvSpPr>
        <p:spPr>
          <a:xfrm>
            <a:off x="1143000" y="5130880"/>
            <a:ext cx="2171700" cy="83820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AI làm gì</a:t>
            </a:r>
            <a:endParaRPr lang="en-US" sz="2100" dirty="0"/>
          </a:p>
        </p:txBody>
      </p:sp>
      <p:sp>
        <p:nvSpPr>
          <p:cNvPr id="22" name="Shape 20"/>
          <p:cNvSpPr/>
          <p:nvPr/>
        </p:nvSpPr>
        <p:spPr>
          <a:xfrm>
            <a:off x="3619500" y="6197680"/>
            <a:ext cx="4254460" cy="9525"/>
          </a:xfrm>
          <a:prstGeom prst="rect">
            <a:avLst/>
          </a:prstGeom>
          <a:solidFill>
            <a:srgbClr val="E9E9ED">
              <a:alpha val="12000"/>
            </a:srgbClr>
          </a:solidFill>
          <a:ln/>
        </p:spPr>
      </p:sp>
      <p:sp>
        <p:nvSpPr>
          <p:cNvPr id="23" name="Text 21"/>
          <p:cNvSpPr/>
          <p:nvPr/>
        </p:nvSpPr>
        <p:spPr>
          <a:xfrm>
            <a:off x="3619500" y="513088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Chỉ cung cấp khung mẫu, không xử lý nội dung</a:t>
            </a:r>
            <a:endParaRPr lang="en-US" sz="2250" dirty="0"/>
          </a:p>
        </p:txBody>
      </p:sp>
      <p:sp>
        <p:nvSpPr>
          <p:cNvPr id="24" name="Shape 22"/>
          <p:cNvSpPr/>
          <p:nvPr/>
        </p:nvSpPr>
        <p:spPr>
          <a:xfrm>
            <a:off x="8254961" y="6197680"/>
            <a:ext cx="4254460" cy="9525"/>
          </a:xfrm>
          <a:prstGeom prst="rect">
            <a:avLst/>
          </a:prstGeom>
          <a:solidFill>
            <a:srgbClr val="E9E9ED">
              <a:alpha val="12000"/>
            </a:srgbClr>
          </a:solidFill>
          <a:ln/>
        </p:spPr>
      </p:sp>
      <p:sp>
        <p:nvSpPr>
          <p:cNvPr id="25" name="Text 23"/>
          <p:cNvSpPr/>
          <p:nvPr/>
        </p:nvSpPr>
        <p:spPr>
          <a:xfrm>
            <a:off x="8254961" y="513088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Chọn lọc, nhóm theo chủ đề và đề xuất</a:t>
            </a:r>
            <a:endParaRPr lang="en-US" sz="2250" dirty="0"/>
          </a:p>
        </p:txBody>
      </p:sp>
      <p:sp>
        <p:nvSpPr>
          <p:cNvPr id="26" name="Shape 24"/>
          <p:cNvSpPr/>
          <p:nvPr/>
        </p:nvSpPr>
        <p:spPr>
          <a:xfrm>
            <a:off x="12890421" y="6197680"/>
            <a:ext cx="4254460" cy="9525"/>
          </a:xfrm>
          <a:prstGeom prst="rect">
            <a:avLst/>
          </a:prstGeom>
          <a:solidFill>
            <a:srgbClr val="E9E9ED">
              <a:alpha val="12000"/>
            </a:srgbClr>
          </a:solidFill>
          <a:ln/>
        </p:spPr>
      </p:sp>
      <p:sp>
        <p:nvSpPr>
          <p:cNvPr id="27" name="Text 25"/>
          <p:cNvSpPr/>
          <p:nvPr/>
        </p:nvSpPr>
        <p:spPr>
          <a:xfrm>
            <a:off x="12890421" y="513088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Viết sẵn bản hoàn chỉnh, tự flag đoạn không chắc</a:t>
            </a:r>
            <a:endParaRPr lang="en-US" sz="2250" dirty="0"/>
          </a:p>
        </p:txBody>
      </p:sp>
      <p:sp>
        <p:nvSpPr>
          <p:cNvPr id="28" name="Shape 26"/>
          <p:cNvSpPr/>
          <p:nvPr/>
        </p:nvSpPr>
        <p:spPr>
          <a:xfrm>
            <a:off x="1143000" y="7538800"/>
            <a:ext cx="2095500" cy="9525"/>
          </a:xfrm>
          <a:prstGeom prst="rect">
            <a:avLst/>
          </a:prstGeom>
          <a:solidFill>
            <a:srgbClr val="E9E9ED">
              <a:alpha val="12000"/>
            </a:srgbClr>
          </a:solidFill>
          <a:ln/>
        </p:spPr>
      </p:sp>
      <p:sp>
        <p:nvSpPr>
          <p:cNvPr id="29" name="Text 27"/>
          <p:cNvSpPr/>
          <p:nvPr/>
        </p:nvSpPr>
        <p:spPr>
          <a:xfrm>
            <a:off x="1143000" y="6472000"/>
            <a:ext cx="2171700" cy="83820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A7A8B4"/>
                </a:solidFill>
                <a:latin typeface="Arial" pitchFamily="34" charset="0"/>
                <a:ea typeface="Arial" pitchFamily="34" charset="-122"/>
                <a:cs typeface="Arial" pitchFamily="34" charset="-120"/>
              </a:rPr>
              <a:t>Trade-off</a:t>
            </a:r>
            <a:endParaRPr lang="en-US" sz="2100" dirty="0"/>
          </a:p>
        </p:txBody>
      </p:sp>
      <p:sp>
        <p:nvSpPr>
          <p:cNvPr id="30" name="Shape 28"/>
          <p:cNvSpPr/>
          <p:nvPr/>
        </p:nvSpPr>
        <p:spPr>
          <a:xfrm>
            <a:off x="3619500" y="7538800"/>
            <a:ext cx="4254460" cy="9525"/>
          </a:xfrm>
          <a:prstGeom prst="rect">
            <a:avLst/>
          </a:prstGeom>
          <a:solidFill>
            <a:srgbClr val="E9E9ED">
              <a:alpha val="12000"/>
            </a:srgbClr>
          </a:solidFill>
          <a:ln/>
        </p:spPr>
      </p:sp>
      <p:sp>
        <p:nvSpPr>
          <p:cNvPr id="31" name="Text 29"/>
          <p:cNvSpPr/>
          <p:nvPr/>
        </p:nvSpPr>
        <p:spPr>
          <a:xfrm>
            <a:off x="3619500" y="647200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Kiểm soát tối đa nhưng tốn công, dễ bỏ giữa chừng</a:t>
            </a:r>
            <a:endParaRPr lang="en-US" sz="2250" dirty="0"/>
          </a:p>
        </p:txBody>
      </p:sp>
      <p:sp>
        <p:nvSpPr>
          <p:cNvPr id="32" name="Shape 30"/>
          <p:cNvSpPr/>
          <p:nvPr/>
        </p:nvSpPr>
        <p:spPr>
          <a:xfrm>
            <a:off x="8254961" y="7538800"/>
            <a:ext cx="4254460" cy="9525"/>
          </a:xfrm>
          <a:prstGeom prst="rect">
            <a:avLst/>
          </a:prstGeom>
          <a:solidFill>
            <a:srgbClr val="E9E9ED">
              <a:alpha val="12000"/>
            </a:srgbClr>
          </a:solidFill>
          <a:ln/>
        </p:spPr>
      </p:sp>
      <p:sp>
        <p:nvSpPr>
          <p:cNvPr id="33" name="Text 31"/>
          <p:cNvSpPr/>
          <p:nvPr/>
        </p:nvSpPr>
        <p:spPr>
          <a:xfrm>
            <a:off x="8254961" y="647200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Cân bằng tốc độ và kiểm soát, vẫn thêm một bước</a:t>
            </a:r>
            <a:endParaRPr lang="en-US" sz="2250" dirty="0"/>
          </a:p>
        </p:txBody>
      </p:sp>
      <p:sp>
        <p:nvSpPr>
          <p:cNvPr id="34" name="Shape 32"/>
          <p:cNvSpPr/>
          <p:nvPr/>
        </p:nvSpPr>
        <p:spPr>
          <a:xfrm>
            <a:off x="12890421" y="7538800"/>
            <a:ext cx="4254460" cy="9525"/>
          </a:xfrm>
          <a:prstGeom prst="rect">
            <a:avLst/>
          </a:prstGeom>
          <a:solidFill>
            <a:srgbClr val="E9E9ED">
              <a:alpha val="12000"/>
            </a:srgbClr>
          </a:solidFill>
          <a:ln/>
        </p:spPr>
      </p:sp>
      <p:sp>
        <p:nvSpPr>
          <p:cNvPr id="35" name="Text 33"/>
          <p:cNvSpPr/>
          <p:nvPr/>
        </p:nvSpPr>
        <p:spPr>
          <a:xfrm>
            <a:off x="12890421" y="6472000"/>
            <a:ext cx="4382094"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Nhanh nhất nhưng rủi ro cao nhất nếu AI sai</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03 · MỨC ĐỘ CAN THIỆP CỦA AI</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Don’t Act · Ask · Act có điều kiện</a:t>
            </a:r>
            <a:endParaRPr lang="en-US" sz="4800" dirty="0"/>
          </a:p>
        </p:txBody>
      </p:sp>
      <p:sp>
        <p:nvSpPr>
          <p:cNvPr id="4" name="Shape 2"/>
          <p:cNvSpPr/>
          <p:nvPr/>
        </p:nvSpPr>
        <p:spPr>
          <a:xfrm>
            <a:off x="1143000" y="2734389"/>
            <a:ext cx="5130761" cy="3789045"/>
          </a:xfrm>
          <a:prstGeom prst="roundRect">
            <a:avLst>
              <a:gd name="adj" fmla="val 2011"/>
            </a:avLst>
          </a:prstGeom>
          <a:solidFill>
            <a:srgbClr val="1D1F2C"/>
          </a:solidFill>
          <a:ln w="7620">
            <a:solidFill>
              <a:srgbClr val="E9E9ED">
                <a:alpha val="10000"/>
              </a:srgbClr>
            </a:solidFill>
            <a:prstDash val="solid"/>
          </a:ln>
        </p:spPr>
      </p:sp>
      <p:sp>
        <p:nvSpPr>
          <p:cNvPr id="5" name="Text 3"/>
          <p:cNvSpPr/>
          <p:nvPr/>
        </p:nvSpPr>
        <p:spPr>
          <a:xfrm>
            <a:off x="1531620" y="3161109"/>
            <a:ext cx="339090"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7972A9"/>
                </a:solidFill>
                <a:latin typeface="Arial" pitchFamily="34" charset="0"/>
                <a:ea typeface="Arial" pitchFamily="34" charset="-122"/>
                <a:cs typeface="Arial" pitchFamily="34" charset="-120"/>
              </a:rPr>
              <a:t>A</a:t>
            </a:r>
            <a:endParaRPr lang="en-US" sz="3000" dirty="0"/>
          </a:p>
        </p:txBody>
      </p:sp>
      <p:sp>
        <p:nvSpPr>
          <p:cNvPr id="6" name="Text 4"/>
          <p:cNvSpPr/>
          <p:nvPr/>
        </p:nvSpPr>
        <p:spPr>
          <a:xfrm>
            <a:off x="1985010" y="3199209"/>
            <a:ext cx="1667494"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B5ABFC"/>
                </a:solidFill>
                <a:latin typeface="Arial" pitchFamily="34" charset="0"/>
                <a:ea typeface="Arial" pitchFamily="34" charset="-122"/>
                <a:cs typeface="Arial" pitchFamily="34" charset="-120"/>
              </a:rPr>
              <a:t>Don’t Act</a:t>
            </a:r>
            <a:endParaRPr lang="en-US" sz="2700" dirty="0"/>
          </a:p>
        </p:txBody>
      </p:sp>
      <p:sp>
        <p:nvSpPr>
          <p:cNvPr id="7" name="Shape 5"/>
          <p:cNvSpPr/>
          <p:nvPr/>
        </p:nvSpPr>
        <p:spPr>
          <a:xfrm>
            <a:off x="1531620" y="3980259"/>
            <a:ext cx="4353520" cy="57150"/>
          </a:xfrm>
          <a:prstGeom prst="rect">
            <a:avLst/>
          </a:prstGeom>
          <a:gradFill rotWithShape="1">
            <a:gsLst>
              <a:gs pos="12000">
                <a:srgbClr val="9184D9">
                  <a:alpha val="100000"/>
                </a:srgbClr>
              </a:gs>
              <a:gs pos="12000">
                <a:srgbClr val="9184D9">
                  <a:alpha val="12000"/>
                </a:srgbClr>
              </a:gs>
            </a:gsLst>
            <a:lin ang="0" scaled="0"/>
          </a:gradFill>
          <a:ln/>
        </p:spPr>
      </p:sp>
      <p:sp>
        <p:nvSpPr>
          <p:cNvPr id="8" name="Text 6"/>
          <p:cNvSpPr/>
          <p:nvPr/>
        </p:nvSpPr>
        <p:spPr>
          <a:xfrm>
            <a:off x="1531620" y="4266009"/>
            <a:ext cx="4484126"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E9E9ED"/>
                </a:solidFill>
                <a:latin typeface="Arial" pitchFamily="34" charset="0"/>
                <a:ea typeface="Arial" pitchFamily="34" charset="-122"/>
                <a:cs typeface="Arial" pitchFamily="34" charset="-120"/>
              </a:rPr>
              <a:t>AI không can thiệp nội dung. Rủi ro sai chỉ đến từ chính user.</a:t>
            </a:r>
            <a:endParaRPr lang="en-US" sz="2250" dirty="0"/>
          </a:p>
        </p:txBody>
      </p:sp>
      <p:sp>
        <p:nvSpPr>
          <p:cNvPr id="9" name="Text 7"/>
          <p:cNvSpPr/>
          <p:nvPr/>
        </p:nvSpPr>
        <p:spPr>
          <a:xfrm>
            <a:off x="1531620" y="5323284"/>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Không cần giải thích capability — giao diện tự nói.</a:t>
            </a:r>
            <a:endParaRPr lang="en-US" sz="2100" dirty="0"/>
          </a:p>
        </p:txBody>
      </p:sp>
      <p:sp>
        <p:nvSpPr>
          <p:cNvPr id="10" name="Shape 8"/>
          <p:cNvSpPr/>
          <p:nvPr/>
        </p:nvSpPr>
        <p:spPr>
          <a:xfrm>
            <a:off x="6578561" y="2734389"/>
            <a:ext cx="5130761" cy="3789045"/>
          </a:xfrm>
          <a:prstGeom prst="roundRect">
            <a:avLst>
              <a:gd name="adj" fmla="val 2011"/>
            </a:avLst>
          </a:prstGeom>
          <a:solidFill>
            <a:srgbClr val="1D1F2C"/>
          </a:solidFill>
          <a:ln w="7620">
            <a:solidFill>
              <a:srgbClr val="E9E9ED">
                <a:alpha val="10000"/>
              </a:srgbClr>
            </a:solidFill>
            <a:prstDash val="solid"/>
          </a:ln>
        </p:spPr>
      </p:sp>
      <p:sp>
        <p:nvSpPr>
          <p:cNvPr id="11" name="Text 9"/>
          <p:cNvSpPr/>
          <p:nvPr/>
        </p:nvSpPr>
        <p:spPr>
          <a:xfrm>
            <a:off x="6967181" y="3161109"/>
            <a:ext cx="325517"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7972A9"/>
                </a:solidFill>
                <a:latin typeface="Arial" pitchFamily="34" charset="0"/>
                <a:ea typeface="Arial" pitchFamily="34" charset="-122"/>
                <a:cs typeface="Arial" pitchFamily="34" charset="-120"/>
              </a:rPr>
              <a:t>B</a:t>
            </a:r>
            <a:endParaRPr lang="en-US" sz="3000" dirty="0"/>
          </a:p>
        </p:txBody>
      </p:sp>
      <p:sp>
        <p:nvSpPr>
          <p:cNvPr id="12" name="Text 10"/>
          <p:cNvSpPr/>
          <p:nvPr/>
        </p:nvSpPr>
        <p:spPr>
          <a:xfrm>
            <a:off x="7406997" y="3199209"/>
            <a:ext cx="694492"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B5ABFC"/>
                </a:solidFill>
                <a:latin typeface="Arial" pitchFamily="34" charset="0"/>
                <a:ea typeface="Arial" pitchFamily="34" charset="-122"/>
                <a:cs typeface="Arial" pitchFamily="34" charset="-120"/>
              </a:rPr>
              <a:t>Ask</a:t>
            </a:r>
            <a:endParaRPr lang="en-US" sz="2700" dirty="0"/>
          </a:p>
        </p:txBody>
      </p:sp>
      <p:sp>
        <p:nvSpPr>
          <p:cNvPr id="13" name="Shape 11"/>
          <p:cNvSpPr/>
          <p:nvPr/>
        </p:nvSpPr>
        <p:spPr>
          <a:xfrm>
            <a:off x="6967181" y="3980259"/>
            <a:ext cx="4353520" cy="57150"/>
          </a:xfrm>
          <a:prstGeom prst="rect">
            <a:avLst/>
          </a:prstGeom>
          <a:gradFill rotWithShape="1">
            <a:gsLst>
              <a:gs pos="55000">
                <a:srgbClr val="9184D9">
                  <a:alpha val="100000"/>
                </a:srgbClr>
              </a:gs>
              <a:gs pos="55000">
                <a:srgbClr val="9184D9">
                  <a:alpha val="12000"/>
                </a:srgbClr>
              </a:gs>
            </a:gsLst>
            <a:lin ang="0" scaled="0"/>
          </a:gradFill>
          <a:ln/>
        </p:spPr>
      </p:sp>
      <p:sp>
        <p:nvSpPr>
          <p:cNvPr id="14" name="Text 12"/>
          <p:cNvSpPr/>
          <p:nvPr/>
        </p:nvSpPr>
        <p:spPr>
          <a:xfrm>
            <a:off x="6967181" y="4266009"/>
            <a:ext cx="4484126"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E9E9ED"/>
                </a:solidFill>
                <a:latin typeface="Arial" pitchFamily="34" charset="0"/>
                <a:ea typeface="Arial" pitchFamily="34" charset="-122"/>
                <a:cs typeface="Arial" pitchFamily="34" charset="-120"/>
              </a:rPr>
              <a:t>AI gợi ý rồi dừng chờ user chọn, chưa gì vào bản cuối.</a:t>
            </a:r>
            <a:endParaRPr lang="en-US" sz="2250" dirty="0"/>
          </a:p>
        </p:txBody>
      </p:sp>
      <p:sp>
        <p:nvSpPr>
          <p:cNvPr id="15" name="Text 13"/>
          <p:cNvSpPr/>
          <p:nvPr/>
        </p:nvSpPr>
        <p:spPr>
          <a:xfrm>
            <a:off x="6967181" y="5323284"/>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Mỗi gợi ý kèm trích đoạn gốc; nhãn “Gợi ý” gắn cố định.</a:t>
            </a:r>
            <a:endParaRPr lang="en-US" sz="2100" dirty="0"/>
          </a:p>
        </p:txBody>
      </p:sp>
      <p:sp>
        <p:nvSpPr>
          <p:cNvPr id="16" name="Shape 14"/>
          <p:cNvSpPr/>
          <p:nvPr/>
        </p:nvSpPr>
        <p:spPr>
          <a:xfrm>
            <a:off x="12014121" y="2734389"/>
            <a:ext cx="5130761" cy="3789045"/>
          </a:xfrm>
          <a:prstGeom prst="roundRect">
            <a:avLst>
              <a:gd name="adj" fmla="val 2011"/>
            </a:avLst>
          </a:prstGeom>
          <a:solidFill>
            <a:srgbClr val="262A60">
              <a:alpha val="55000"/>
            </a:srgbClr>
          </a:solidFill>
          <a:ln w="7620">
            <a:solidFill>
              <a:srgbClr val="9184D9">
                <a:alpha val="40000"/>
              </a:srgbClr>
            </a:solidFill>
            <a:prstDash val="solid"/>
          </a:ln>
        </p:spPr>
      </p:sp>
      <p:sp>
        <p:nvSpPr>
          <p:cNvPr id="17" name="Text 15"/>
          <p:cNvSpPr/>
          <p:nvPr/>
        </p:nvSpPr>
        <p:spPr>
          <a:xfrm>
            <a:off x="12402741" y="3161109"/>
            <a:ext cx="354568"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C</a:t>
            </a:r>
            <a:endParaRPr lang="en-US" sz="3000" dirty="0"/>
          </a:p>
        </p:txBody>
      </p:sp>
      <p:sp>
        <p:nvSpPr>
          <p:cNvPr id="18" name="Text 16"/>
          <p:cNvSpPr/>
          <p:nvPr/>
        </p:nvSpPr>
        <p:spPr>
          <a:xfrm>
            <a:off x="12871609" y="3199209"/>
            <a:ext cx="2053852" cy="569595"/>
          </a:xfrm>
          <a:prstGeom prst="rect">
            <a:avLst/>
          </a:prstGeom>
          <a:noFill/>
          <a:ln/>
        </p:spPr>
        <p:txBody>
          <a:bodyPr wrap="square" lIns="25400" tIns="25400" rIns="25400" bIns="25400" rtlCol="0" anchor="t">
            <a:normAutofit/>
          </a:bodyPr>
          <a:lstStyle/>
          <a:p>
            <a:pPr algn="l" indent="0" marL="0">
              <a:lnSpc>
                <a:spcPct val="134135"/>
              </a:lnSpc>
              <a:buNone/>
            </a:pPr>
            <a:r>
              <a:rPr lang="en-US" sz="2700" dirty="0">
                <a:solidFill>
                  <a:srgbClr val="D2CEFD"/>
                </a:solidFill>
                <a:latin typeface="Arial" pitchFamily="34" charset="0"/>
                <a:ea typeface="Arial" pitchFamily="34" charset="-122"/>
                <a:cs typeface="Arial" pitchFamily="34" charset="-120"/>
              </a:rPr>
              <a:t>Act, có flag</a:t>
            </a:r>
            <a:endParaRPr lang="en-US" sz="2700" dirty="0"/>
          </a:p>
        </p:txBody>
      </p:sp>
      <p:sp>
        <p:nvSpPr>
          <p:cNvPr id="19" name="Shape 17"/>
          <p:cNvSpPr/>
          <p:nvPr/>
        </p:nvSpPr>
        <p:spPr>
          <a:xfrm>
            <a:off x="12402741" y="3980259"/>
            <a:ext cx="4353520" cy="57150"/>
          </a:xfrm>
          <a:prstGeom prst="rect">
            <a:avLst/>
          </a:prstGeom>
          <a:gradFill rotWithShape="1">
            <a:gsLst>
              <a:gs pos="100000">
                <a:srgbClr val="B5ABFC">
                  <a:alpha val="100000"/>
                </a:srgbClr>
              </a:gs>
              <a:gs pos="100000">
                <a:srgbClr val="9184D9">
                  <a:alpha val="12000"/>
                </a:srgbClr>
              </a:gs>
            </a:gsLst>
            <a:lin ang="0" scaled="0"/>
          </a:gradFill>
          <a:ln/>
        </p:spPr>
      </p:sp>
      <p:sp>
        <p:nvSpPr>
          <p:cNvPr id="20" name="Text 18"/>
          <p:cNvSpPr/>
          <p:nvPr/>
        </p:nvSpPr>
        <p:spPr>
          <a:xfrm>
            <a:off x="12402741" y="4266009"/>
            <a:ext cx="4484126" cy="866775"/>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E9E9ED"/>
                </a:solidFill>
                <a:latin typeface="Arial" pitchFamily="34" charset="0"/>
                <a:ea typeface="Arial" pitchFamily="34" charset="-122"/>
                <a:cs typeface="Arial" pitchFamily="34" charset="-120"/>
              </a:rPr>
              <a:t>AI tạo bản nháp ngay, bắt buộc flag đoạn không chắc.</a:t>
            </a:r>
            <a:endParaRPr lang="en-US" sz="2250" dirty="0"/>
          </a:p>
        </p:txBody>
      </p:sp>
      <p:sp>
        <p:nvSpPr>
          <p:cNvPr id="21" name="Text 19"/>
          <p:cNvSpPr/>
          <p:nvPr/>
        </p:nvSpPr>
        <p:spPr>
          <a:xfrm>
            <a:off x="12402741" y="5323284"/>
            <a:ext cx="4484126"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CFD0D8"/>
                </a:solidFill>
                <a:latin typeface="Arial" pitchFamily="34" charset="0"/>
                <a:ea typeface="Arial" pitchFamily="34" charset="-122"/>
                <a:cs typeface="Arial" pitchFamily="34" charset="-120"/>
              </a:rPr>
              <a:t>Hậu quả nếu sai nghiêm trọng nhất — giữ bản gốc và nút Tạo lại.</a:t>
            </a:r>
            <a:endParaRPr lang="en-US" sz="2100" dirty="0"/>
          </a:p>
        </p:txBody>
      </p:sp>
      <p:sp>
        <p:nvSpPr>
          <p:cNvPr id="22" name="Text 20"/>
          <p:cNvSpPr/>
          <p:nvPr/>
        </p:nvSpPr>
        <p:spPr>
          <a:xfrm>
            <a:off x="1143000" y="6980634"/>
            <a:ext cx="15716250" cy="452438"/>
          </a:xfrm>
          <a:prstGeom prst="rect">
            <a:avLst/>
          </a:prstGeom>
          <a:noFill/>
          <a:ln/>
        </p:spPr>
        <p:txBody>
          <a:bodyPr wrap="square" lIns="25400" tIns="25400" rIns="25400" bIns="25400" rtlCol="0" anchor="t">
            <a:normAutofit/>
          </a:bodyPr>
          <a:lstStyle/>
          <a:p>
            <a:pPr algn="l" indent="0" marL="0">
              <a:lnSpc>
                <a:spcPct val="126453"/>
              </a:lnSpc>
              <a:buNone/>
            </a:pPr>
            <a:r>
              <a:rPr lang="en-US" sz="2250" dirty="0">
                <a:solidFill>
                  <a:srgbClr val="A7A8B4"/>
                </a:solidFill>
                <a:latin typeface="Arial" pitchFamily="34" charset="0"/>
                <a:ea typeface="Arial" pitchFamily="34" charset="-122"/>
                <a:cs typeface="Arial" pitchFamily="34" charset="-120"/>
              </a:rPr>
              <a:t>Agency tăng dần từ A đến C đúng theo mức hậu quả nếu sai, nên C là option cần test trước tiên.</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03 · BA OPTION TEST</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Ba prototype, cùng một bộ input</a:t>
            </a:r>
            <a:endParaRPr lang="en-US" sz="4800" dirty="0"/>
          </a:p>
        </p:txBody>
      </p:sp>
      <p:sp>
        <p:nvSpPr>
          <p:cNvPr id="4" name="Text 2"/>
          <p:cNvSpPr/>
          <p:nvPr/>
        </p:nvSpPr>
        <p:spPr>
          <a:xfrm>
            <a:off x="1143000" y="9082088"/>
            <a:ext cx="561594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A — Mẫu ghi chú tự kéo/thả</a:t>
            </a:r>
            <a:endParaRPr lang="en-US" sz="2250" dirty="0"/>
          </a:p>
        </p:txBody>
      </p:sp>
      <p:sp>
        <p:nvSpPr>
          <p:cNvPr id="5" name="Text 3"/>
          <p:cNvSpPr/>
          <p:nvPr/>
        </p:nvSpPr>
        <p:spPr>
          <a:xfrm>
            <a:off x="6591300" y="9082088"/>
            <a:ext cx="561594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B — AI gợi ý, user nhận/bỏ/sửa</a:t>
            </a:r>
            <a:endParaRPr lang="en-US" sz="2250" dirty="0"/>
          </a:p>
        </p:txBody>
      </p:sp>
      <p:sp>
        <p:nvSpPr>
          <p:cNvPr id="6" name="Text 4"/>
          <p:cNvSpPr/>
          <p:nvPr/>
        </p:nvSpPr>
        <p:spPr>
          <a:xfrm>
            <a:off x="12039600" y="9082088"/>
            <a:ext cx="5615940" cy="481012"/>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FD0D8"/>
                </a:solidFill>
                <a:latin typeface="Arial" pitchFamily="34" charset="0"/>
                <a:ea typeface="Arial" pitchFamily="34" charset="-122"/>
                <a:cs typeface="Arial" pitchFamily="34" charset="-120"/>
              </a:rPr>
              <a:t>C — AI tạo sẵn bản nháp có flag</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04 · PHẢN ỨNG CỦA TESTER</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Mỗi option vướng ở một chỗ khác nhau</a:t>
            </a:r>
            <a:endParaRPr lang="en-US" sz="4800" dirty="0"/>
          </a:p>
        </p:txBody>
      </p:sp>
      <p:sp>
        <p:nvSpPr>
          <p:cNvPr id="4" name="Shape 2"/>
          <p:cNvSpPr/>
          <p:nvPr/>
        </p:nvSpPr>
        <p:spPr>
          <a:xfrm>
            <a:off x="1143000" y="2734389"/>
            <a:ext cx="16002000" cy="9525"/>
          </a:xfrm>
          <a:prstGeom prst="rect">
            <a:avLst/>
          </a:prstGeom>
          <a:solidFill>
            <a:srgbClr val="9184D9">
              <a:alpha val="45000"/>
            </a:srgbClr>
          </a:solidFill>
          <a:ln/>
        </p:spPr>
      </p:sp>
      <p:sp>
        <p:nvSpPr>
          <p:cNvPr id="5" name="Text 3"/>
          <p:cNvSpPr/>
          <p:nvPr/>
        </p:nvSpPr>
        <p:spPr>
          <a:xfrm>
            <a:off x="1143000" y="3027759"/>
            <a:ext cx="1028700"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OPTION</a:t>
            </a:r>
            <a:endParaRPr lang="en-US" sz="1950" dirty="0"/>
          </a:p>
        </p:txBody>
      </p:sp>
      <p:sp>
        <p:nvSpPr>
          <p:cNvPr id="6" name="Text 4"/>
          <p:cNvSpPr/>
          <p:nvPr/>
        </p:nvSpPr>
        <p:spPr>
          <a:xfrm>
            <a:off x="2552700" y="3027759"/>
            <a:ext cx="7774305"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BREAKDOWN CHÍNH</a:t>
            </a:r>
            <a:endParaRPr lang="en-US" sz="1950" dirty="0"/>
          </a:p>
        </p:txBody>
      </p:sp>
      <p:sp>
        <p:nvSpPr>
          <p:cNvPr id="7" name="Text 5"/>
          <p:cNvSpPr/>
          <p:nvPr/>
        </p:nvSpPr>
        <p:spPr>
          <a:xfrm>
            <a:off x="10077450" y="3027759"/>
            <a:ext cx="7774305"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LẶP Ở MẤY TESTER</a:t>
            </a:r>
            <a:endParaRPr lang="en-US" sz="1950" dirty="0"/>
          </a:p>
        </p:txBody>
      </p:sp>
      <p:sp>
        <p:nvSpPr>
          <p:cNvPr id="8" name="Shape 6"/>
          <p:cNvSpPr/>
          <p:nvPr/>
        </p:nvSpPr>
        <p:spPr>
          <a:xfrm>
            <a:off x="1143000" y="3697367"/>
            <a:ext cx="16002000" cy="9525"/>
          </a:xfrm>
          <a:prstGeom prst="rect">
            <a:avLst/>
          </a:prstGeom>
          <a:solidFill>
            <a:srgbClr val="E9E9ED">
              <a:alpha val="12000"/>
            </a:srgbClr>
          </a:solidFill>
          <a:ln/>
        </p:spPr>
      </p:sp>
      <p:sp>
        <p:nvSpPr>
          <p:cNvPr id="9" name="Text 7"/>
          <p:cNvSpPr/>
          <p:nvPr/>
        </p:nvSpPr>
        <p:spPr>
          <a:xfrm>
            <a:off x="1143000" y="4028837"/>
            <a:ext cx="1028700"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A</a:t>
            </a:r>
            <a:endParaRPr lang="en-US" sz="3000" dirty="0"/>
          </a:p>
        </p:txBody>
      </p:sp>
      <p:sp>
        <p:nvSpPr>
          <p:cNvPr id="10" name="Text 8"/>
          <p:cNvSpPr/>
          <p:nvPr/>
        </p:nvSpPr>
        <p:spPr>
          <a:xfrm>
            <a:off x="2552700" y="4135517"/>
            <a:ext cx="7279577" cy="89154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E9E9ED"/>
                </a:solidFill>
                <a:latin typeface="Arial" pitchFamily="34" charset="0"/>
                <a:ea typeface="Arial" pitchFamily="34" charset="-122"/>
                <a:cs typeface="Arial" pitchFamily="34" charset="-120"/>
              </a:rPr>
              <a:t>Vướng ở chính thao tác nhập liệu — không rõ nên kéo/thả hay ấn đúp, và tốn công</a:t>
            </a:r>
            <a:endParaRPr lang="en-US" sz="2400" dirty="0"/>
          </a:p>
        </p:txBody>
      </p:sp>
      <p:sp>
        <p:nvSpPr>
          <p:cNvPr id="11" name="Text 9"/>
          <p:cNvSpPr/>
          <p:nvPr/>
        </p:nvSpPr>
        <p:spPr>
          <a:xfrm>
            <a:off x="10077450" y="4112657"/>
            <a:ext cx="7774305"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CFD0D8"/>
                </a:solidFill>
                <a:latin typeface="Arial" pitchFamily="34" charset="0"/>
                <a:ea typeface="Arial" pitchFamily="34" charset="-122"/>
                <a:cs typeface="Arial" pitchFamily="34" charset="-120"/>
              </a:rPr>
              <a:t>Cả 3 tester</a:t>
            </a:r>
            <a:endParaRPr lang="en-US" sz="2400" dirty="0"/>
          </a:p>
        </p:txBody>
      </p:sp>
      <p:sp>
        <p:nvSpPr>
          <p:cNvPr id="12" name="Shape 10"/>
          <p:cNvSpPr/>
          <p:nvPr/>
        </p:nvSpPr>
        <p:spPr>
          <a:xfrm>
            <a:off x="1143000" y="5312807"/>
            <a:ext cx="16002000" cy="9525"/>
          </a:xfrm>
          <a:prstGeom prst="rect">
            <a:avLst/>
          </a:prstGeom>
          <a:solidFill>
            <a:srgbClr val="E9E9ED">
              <a:alpha val="12000"/>
            </a:srgbClr>
          </a:solidFill>
          <a:ln/>
        </p:spPr>
      </p:sp>
      <p:sp>
        <p:nvSpPr>
          <p:cNvPr id="13" name="Text 11"/>
          <p:cNvSpPr/>
          <p:nvPr/>
        </p:nvSpPr>
        <p:spPr>
          <a:xfrm>
            <a:off x="1143000" y="5644277"/>
            <a:ext cx="1028700"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B</a:t>
            </a:r>
            <a:endParaRPr lang="en-US" sz="3000" dirty="0"/>
          </a:p>
        </p:txBody>
      </p:sp>
      <p:sp>
        <p:nvSpPr>
          <p:cNvPr id="14" name="Text 12"/>
          <p:cNvSpPr/>
          <p:nvPr/>
        </p:nvSpPr>
        <p:spPr>
          <a:xfrm>
            <a:off x="2552700" y="5750957"/>
            <a:ext cx="7279577" cy="131826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E9E9ED"/>
                </a:solidFill>
                <a:latin typeface="Arial" pitchFamily="34" charset="0"/>
                <a:ea typeface="Arial" pitchFamily="34" charset="-122"/>
                <a:cs typeface="Arial" pitchFamily="34" charset="-120"/>
              </a:rPr>
              <a:t>Vướng ở minh bạch của AI — hiểu lầm số lượng sau gộp, lo mất quyền sửa, không biết AI đang làm gì</a:t>
            </a:r>
            <a:endParaRPr lang="en-US" sz="2400" dirty="0"/>
          </a:p>
        </p:txBody>
      </p:sp>
      <p:sp>
        <p:nvSpPr>
          <p:cNvPr id="15" name="Text 13"/>
          <p:cNvSpPr/>
          <p:nvPr/>
        </p:nvSpPr>
        <p:spPr>
          <a:xfrm>
            <a:off x="10077450" y="5728097"/>
            <a:ext cx="7774305"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CFD0D8"/>
                </a:solidFill>
                <a:latin typeface="Arial" pitchFamily="34" charset="0"/>
                <a:ea typeface="Arial" pitchFamily="34" charset="-122"/>
                <a:cs typeface="Arial" pitchFamily="34" charset="-120"/>
              </a:rPr>
              <a:t>Cả 3 tester</a:t>
            </a:r>
            <a:endParaRPr lang="en-US" sz="2400" dirty="0"/>
          </a:p>
        </p:txBody>
      </p:sp>
      <p:sp>
        <p:nvSpPr>
          <p:cNvPr id="16" name="Shape 14"/>
          <p:cNvSpPr/>
          <p:nvPr/>
        </p:nvSpPr>
        <p:spPr>
          <a:xfrm>
            <a:off x="1143000" y="8970407"/>
            <a:ext cx="16002000" cy="9525"/>
          </a:xfrm>
          <a:prstGeom prst="rect">
            <a:avLst/>
          </a:prstGeom>
          <a:solidFill>
            <a:srgbClr val="E9E9ED">
              <a:alpha val="12000"/>
            </a:srgbClr>
          </a:solidFill>
          <a:ln/>
        </p:spPr>
      </p:sp>
      <p:sp>
        <p:nvSpPr>
          <p:cNvPr id="17" name="Shape 15"/>
          <p:cNvSpPr/>
          <p:nvPr/>
        </p:nvSpPr>
        <p:spPr>
          <a:xfrm>
            <a:off x="1143000" y="7354967"/>
            <a:ext cx="16002000" cy="9525"/>
          </a:xfrm>
          <a:prstGeom prst="rect">
            <a:avLst/>
          </a:prstGeom>
          <a:solidFill>
            <a:srgbClr val="E9E9ED">
              <a:alpha val="12000"/>
            </a:srgbClr>
          </a:solidFill>
          <a:ln/>
        </p:spPr>
      </p:sp>
      <p:sp>
        <p:nvSpPr>
          <p:cNvPr id="18" name="Text 16"/>
          <p:cNvSpPr/>
          <p:nvPr/>
        </p:nvSpPr>
        <p:spPr>
          <a:xfrm>
            <a:off x="1143000" y="7686437"/>
            <a:ext cx="1028700" cy="628650"/>
          </a:xfrm>
          <a:prstGeom prst="rect">
            <a:avLst/>
          </a:prstGeom>
          <a:noFill/>
          <a:ln/>
        </p:spPr>
        <p:txBody>
          <a:bodyPr wrap="square" lIns="25400" tIns="25400" rIns="25400" bIns="25400" rtlCol="0" anchor="t">
            <a:normAutofit/>
          </a:bodyPr>
          <a:lstStyle/>
          <a:p>
            <a:pPr algn="l" indent="0" marL="0">
              <a:lnSpc>
                <a:spcPct val="133621"/>
              </a:lnSpc>
              <a:buNone/>
            </a:pPr>
            <a:r>
              <a:rPr lang="en-US" sz="3000" dirty="0">
                <a:solidFill>
                  <a:srgbClr val="B5ABFC"/>
                </a:solidFill>
                <a:latin typeface="Arial" pitchFamily="34" charset="0"/>
                <a:ea typeface="Arial" pitchFamily="34" charset="-122"/>
                <a:cs typeface="Arial" pitchFamily="34" charset="-120"/>
              </a:rPr>
              <a:t>C</a:t>
            </a:r>
            <a:endParaRPr lang="en-US" sz="3000" dirty="0"/>
          </a:p>
        </p:txBody>
      </p:sp>
      <p:sp>
        <p:nvSpPr>
          <p:cNvPr id="19" name="Text 17"/>
          <p:cNvSpPr/>
          <p:nvPr/>
        </p:nvSpPr>
        <p:spPr>
          <a:xfrm>
            <a:off x="2552700" y="7793117"/>
            <a:ext cx="7279577" cy="89154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E9E9ED"/>
                </a:solidFill>
                <a:latin typeface="Arial" pitchFamily="34" charset="0"/>
                <a:ea typeface="Arial" pitchFamily="34" charset="-122"/>
                <a:cs typeface="Arial" pitchFamily="34" charset="-120"/>
              </a:rPr>
              <a:t>Lý do uncertainty ẩn sau hover nên dễ bỏ lỡ, dù cả ba đều đọc phần tô vàng trước tiên</a:t>
            </a:r>
            <a:endParaRPr lang="en-US" sz="2400" dirty="0"/>
          </a:p>
        </p:txBody>
      </p:sp>
      <p:sp>
        <p:nvSpPr>
          <p:cNvPr id="20" name="Text 18"/>
          <p:cNvSpPr/>
          <p:nvPr/>
        </p:nvSpPr>
        <p:spPr>
          <a:xfrm>
            <a:off x="10077450" y="7770257"/>
            <a:ext cx="7774305"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CFD0D8"/>
                </a:solidFill>
                <a:latin typeface="Arial" pitchFamily="34" charset="0"/>
                <a:ea typeface="Arial" pitchFamily="34" charset="-122"/>
                <a:cs typeface="Arial" pitchFamily="34" charset="-120"/>
              </a:rPr>
              <a:t>1 / 3 tester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62A60">
                  <a:alpha val="100000"/>
                </a:srgbClr>
              </a:gs>
              <a:gs pos="55000">
                <a:srgbClr val="1A1C2D">
                  <a:alpha val="100000"/>
                </a:srgbClr>
              </a:gs>
              <a:gs pos="100000">
                <a:srgbClr val="161826">
                  <a:alpha val="100000"/>
                </a:srgbClr>
              </a:gs>
            </a:gsLst>
            <a:path path="circle">
              <a:fillToRect l="85000" t="15000" r="15000" b="85000"/>
            </a:path>
          </a:gradFill>
          <a:ln/>
        </p:spPr>
      </p:sp>
      <p:sp>
        <p:nvSpPr>
          <p:cNvPr id="3" name="Text 1"/>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04 · PHẢN ỨNG CỦA TESTER</a:t>
            </a:r>
            <a:endParaRPr lang="en-US" sz="2100" dirty="0"/>
          </a:p>
        </p:txBody>
      </p:sp>
      <p:sp>
        <p:nvSpPr>
          <p:cNvPr id="4" name="Text 2"/>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Không ai chọn A</a:t>
            </a:r>
            <a:endParaRPr lang="en-US" sz="4800" dirty="0"/>
          </a:p>
        </p:txBody>
      </p:sp>
      <p:sp>
        <p:nvSpPr>
          <p:cNvPr id="5" name="Text 3"/>
          <p:cNvSpPr/>
          <p:nvPr/>
        </p:nvSpPr>
        <p:spPr>
          <a:xfrm>
            <a:off x="1143000" y="2810589"/>
            <a:ext cx="5196840" cy="1181100"/>
          </a:xfrm>
          <a:prstGeom prst="rect">
            <a:avLst/>
          </a:prstGeom>
          <a:noFill/>
          <a:ln/>
        </p:spPr>
        <p:txBody>
          <a:bodyPr wrap="square" lIns="25400" tIns="25400" rIns="25400" bIns="25400" rtlCol="0" anchor="t">
            <a:normAutofit/>
          </a:bodyPr>
          <a:lstStyle/>
          <a:p>
            <a:pPr algn="l" indent="0" marL="0">
              <a:lnSpc>
                <a:spcPct val="86705"/>
              </a:lnSpc>
              <a:buNone/>
            </a:pPr>
            <a:r>
              <a:rPr lang="en-US" sz="9000" dirty="0">
                <a:solidFill>
                  <a:srgbClr val="B5ABFC"/>
                </a:solidFill>
                <a:latin typeface="Arial" pitchFamily="34" charset="0"/>
                <a:ea typeface="Arial" pitchFamily="34" charset="-122"/>
                <a:cs typeface="Arial" pitchFamily="34" charset="-120"/>
              </a:rPr>
              <a:t>0/3</a:t>
            </a:r>
            <a:endParaRPr lang="en-US" sz="9000" dirty="0"/>
          </a:p>
        </p:txBody>
      </p:sp>
      <p:sp>
        <p:nvSpPr>
          <p:cNvPr id="6" name="Text 4"/>
          <p:cNvSpPr/>
          <p:nvPr/>
        </p:nvSpPr>
        <p:spPr>
          <a:xfrm>
            <a:off x="1143000" y="4105989"/>
            <a:ext cx="5196840"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E9E9ED"/>
                </a:solidFill>
                <a:latin typeface="Arial" pitchFamily="34" charset="0"/>
                <a:ea typeface="Arial" pitchFamily="34" charset="-122"/>
                <a:cs typeface="Arial" pitchFamily="34" charset="-120"/>
              </a:rPr>
              <a:t>chọn Option A</a:t>
            </a:r>
            <a:endParaRPr lang="en-US" sz="2550" dirty="0"/>
          </a:p>
        </p:txBody>
      </p:sp>
      <p:sp>
        <p:nvSpPr>
          <p:cNvPr id="7" name="Text 5"/>
          <p:cNvSpPr/>
          <p:nvPr/>
        </p:nvSpPr>
        <p:spPr>
          <a:xfrm>
            <a:off x="1143000" y="4760357"/>
            <a:ext cx="4866132"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Thao tác khó và tốn công, không có AI hỗ trợ</a:t>
            </a:r>
            <a:endParaRPr lang="en-US" sz="2100" dirty="0"/>
          </a:p>
        </p:txBody>
      </p:sp>
      <p:sp>
        <p:nvSpPr>
          <p:cNvPr id="8" name="Text 6"/>
          <p:cNvSpPr/>
          <p:nvPr/>
        </p:nvSpPr>
        <p:spPr>
          <a:xfrm>
            <a:off x="6400800" y="2810589"/>
            <a:ext cx="5196840" cy="1181100"/>
          </a:xfrm>
          <a:prstGeom prst="rect">
            <a:avLst/>
          </a:prstGeom>
          <a:noFill/>
          <a:ln/>
        </p:spPr>
        <p:txBody>
          <a:bodyPr wrap="square" lIns="25400" tIns="25400" rIns="25400" bIns="25400" rtlCol="0" anchor="t">
            <a:normAutofit/>
          </a:bodyPr>
          <a:lstStyle/>
          <a:p>
            <a:pPr algn="l" indent="0" marL="0">
              <a:lnSpc>
                <a:spcPct val="86705"/>
              </a:lnSpc>
              <a:buNone/>
            </a:pPr>
            <a:r>
              <a:rPr lang="en-US" sz="9000" dirty="0">
                <a:solidFill>
                  <a:srgbClr val="B5ABFC"/>
                </a:solidFill>
                <a:latin typeface="Arial" pitchFamily="34" charset="0"/>
                <a:ea typeface="Arial" pitchFamily="34" charset="-122"/>
                <a:cs typeface="Arial" pitchFamily="34" charset="-120"/>
              </a:rPr>
              <a:t>3/3</a:t>
            </a:r>
            <a:endParaRPr lang="en-US" sz="9000" dirty="0"/>
          </a:p>
        </p:txBody>
      </p:sp>
      <p:sp>
        <p:nvSpPr>
          <p:cNvPr id="9" name="Text 7"/>
          <p:cNvSpPr/>
          <p:nvPr/>
        </p:nvSpPr>
        <p:spPr>
          <a:xfrm>
            <a:off x="6400800" y="4105989"/>
            <a:ext cx="5196840"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E9E9ED"/>
                </a:solidFill>
                <a:latin typeface="Arial" pitchFamily="34" charset="0"/>
                <a:ea typeface="Arial" pitchFamily="34" charset="-122"/>
                <a:cs typeface="Arial" pitchFamily="34" charset="-120"/>
              </a:rPr>
              <a:t>giữ quy trình của B</a:t>
            </a:r>
            <a:endParaRPr lang="en-US" sz="2550" dirty="0"/>
          </a:p>
        </p:txBody>
      </p:sp>
      <p:sp>
        <p:nvSpPr>
          <p:cNvPr id="10" name="Text 8"/>
          <p:cNvSpPr/>
          <p:nvPr/>
        </p:nvSpPr>
        <p:spPr>
          <a:xfrm>
            <a:off x="6400800" y="4760357"/>
            <a:ext cx="4866132"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Bước chọn lọc cho phép kiểm chứng qua nguồn và nhận/bỏ/sửa</a:t>
            </a:r>
            <a:endParaRPr lang="en-US" sz="2100" dirty="0"/>
          </a:p>
        </p:txBody>
      </p:sp>
      <p:sp>
        <p:nvSpPr>
          <p:cNvPr id="11" name="Text 9"/>
          <p:cNvSpPr/>
          <p:nvPr/>
        </p:nvSpPr>
        <p:spPr>
          <a:xfrm>
            <a:off x="11658600" y="2810589"/>
            <a:ext cx="5196840" cy="1181100"/>
          </a:xfrm>
          <a:prstGeom prst="rect">
            <a:avLst/>
          </a:prstGeom>
          <a:noFill/>
          <a:ln/>
        </p:spPr>
        <p:txBody>
          <a:bodyPr wrap="square" lIns="25400" tIns="25400" rIns="25400" bIns="25400" rtlCol="0" anchor="t">
            <a:normAutofit/>
          </a:bodyPr>
          <a:lstStyle/>
          <a:p>
            <a:pPr algn="l" indent="0" marL="0">
              <a:lnSpc>
                <a:spcPct val="86705"/>
              </a:lnSpc>
              <a:buNone/>
            </a:pPr>
            <a:r>
              <a:rPr lang="en-US" sz="9000" dirty="0">
                <a:solidFill>
                  <a:srgbClr val="B5ABFC"/>
                </a:solidFill>
                <a:latin typeface="Arial" pitchFamily="34" charset="0"/>
                <a:ea typeface="Arial" pitchFamily="34" charset="-122"/>
                <a:cs typeface="Arial" pitchFamily="34" charset="-120"/>
              </a:rPr>
              <a:t>2/3</a:t>
            </a:r>
            <a:endParaRPr lang="en-US" sz="9000" dirty="0"/>
          </a:p>
        </p:txBody>
      </p:sp>
      <p:sp>
        <p:nvSpPr>
          <p:cNvPr id="12" name="Text 10"/>
          <p:cNvSpPr/>
          <p:nvPr/>
        </p:nvSpPr>
        <p:spPr>
          <a:xfrm>
            <a:off x="11658600" y="4105989"/>
            <a:ext cx="5196840" cy="540068"/>
          </a:xfrm>
          <a:prstGeom prst="rect">
            <a:avLst/>
          </a:prstGeom>
          <a:noFill/>
          <a:ln/>
        </p:spPr>
        <p:txBody>
          <a:bodyPr wrap="square" lIns="25400" tIns="25400" rIns="25400" bIns="25400" rtlCol="0" anchor="t">
            <a:normAutofit/>
          </a:bodyPr>
          <a:lstStyle/>
          <a:p>
            <a:pPr algn="l" indent="0" marL="0">
              <a:lnSpc>
                <a:spcPct val="137240"/>
              </a:lnSpc>
              <a:buNone/>
            </a:pPr>
            <a:r>
              <a:rPr lang="en-US" sz="2550" dirty="0">
                <a:solidFill>
                  <a:srgbClr val="E9E9ED"/>
                </a:solidFill>
                <a:latin typeface="Arial" pitchFamily="34" charset="0"/>
                <a:ea typeface="Arial" pitchFamily="34" charset="-122"/>
                <a:cs typeface="Arial" pitchFamily="34" charset="-120"/>
              </a:rPr>
              <a:t>tự đề xuất ghép B với C</a:t>
            </a:r>
            <a:endParaRPr lang="en-US" sz="2550" dirty="0"/>
          </a:p>
        </p:txBody>
      </p:sp>
      <p:sp>
        <p:nvSpPr>
          <p:cNvPr id="13" name="Text 11"/>
          <p:cNvSpPr/>
          <p:nvPr/>
        </p:nvSpPr>
        <p:spPr>
          <a:xfrm>
            <a:off x="11658600" y="4760357"/>
            <a:ext cx="4866132" cy="811530"/>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Minh và Linh nêu độc lập, không được gợi ý trước</a:t>
            </a:r>
            <a:endParaRPr lang="en-US" sz="2100" dirty="0"/>
          </a:p>
        </p:txBody>
      </p:sp>
      <p:sp>
        <p:nvSpPr>
          <p:cNvPr id="14" name="Shape 12"/>
          <p:cNvSpPr/>
          <p:nvPr/>
        </p:nvSpPr>
        <p:spPr>
          <a:xfrm>
            <a:off x="1143000" y="6143387"/>
            <a:ext cx="38100" cy="952500"/>
          </a:xfrm>
          <a:prstGeom prst="rect">
            <a:avLst/>
          </a:prstGeom>
          <a:gradFill rotWithShape="1">
            <a:gsLst>
              <a:gs pos="0">
                <a:srgbClr val="9184D9">
                  <a:alpha val="100000"/>
                </a:srgbClr>
              </a:gs>
              <a:gs pos="100000">
                <a:srgbClr val="9184D9">
                  <a:alpha val="15000"/>
                </a:srgbClr>
              </a:gs>
            </a:gsLst>
            <a:lin ang="5400000" scaled="0"/>
          </a:gradFill>
          <a:ln/>
        </p:spPr>
      </p:sp>
      <p:sp>
        <p:nvSpPr>
          <p:cNvPr id="15" name="Text 13"/>
          <p:cNvSpPr/>
          <p:nvPr/>
        </p:nvSpPr>
        <p:spPr>
          <a:xfrm>
            <a:off x="1485900" y="6752987"/>
            <a:ext cx="14951583" cy="977265"/>
          </a:xfrm>
          <a:prstGeom prst="rect">
            <a:avLst/>
          </a:prstGeom>
          <a:noFill/>
          <a:ln/>
        </p:spPr>
        <p:txBody>
          <a:bodyPr wrap="square" lIns="25400" tIns="25400" rIns="25400" bIns="25400" rtlCol="0" anchor="t">
            <a:normAutofit/>
          </a:bodyPr>
          <a:lstStyle/>
          <a:p>
            <a:pPr algn="l" indent="0" marL="0">
              <a:lnSpc>
                <a:spcPct val="128385"/>
              </a:lnSpc>
              <a:buNone/>
            </a:pPr>
            <a:r>
              <a:rPr lang="en-US" sz="2550" dirty="0">
                <a:solidFill>
                  <a:srgbClr val="E9E9ED"/>
                </a:solidFill>
                <a:latin typeface="Arial" pitchFamily="34" charset="0"/>
                <a:ea typeface="Arial" pitchFamily="34" charset="-122"/>
                <a:cs typeface="Arial" pitchFamily="34" charset="-120"/>
              </a:rPr>
              <a:t>Vũ chọn thuần B, nhưng lý do cũng là lo ngại về C: bản nháp hoàn chỉnh dễ khiến người học duyệt nhanh và giảm độ chắc chắn.</a:t>
            </a:r>
            <a:endParaRPr lang="en-US" sz="2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26"/>
        </a:solidFill>
      </p:bgPr>
    </p:bg>
    <p:spTree>
      <p:nvGrpSpPr>
        <p:cNvPr id="1" name=""/>
        <p:cNvGrpSpPr/>
        <p:nvPr/>
      </p:nvGrpSpPr>
      <p:grpSpPr>
        <a:xfrm>
          <a:off x="0" y="0"/>
          <a:ext cx="0" cy="0"/>
          <a:chOff x="0" y="0"/>
          <a:chExt cx="0" cy="0"/>
        </a:xfrm>
      </p:grpSpPr>
      <p:sp>
        <p:nvSpPr>
          <p:cNvPr id="2" name="Text 0"/>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05 · KẾT LUẬN VÀ HƯỚNG CẢI TIẾN</a:t>
            </a:r>
            <a:endParaRPr lang="en-US" sz="2100" dirty="0"/>
          </a:p>
        </p:txBody>
      </p:sp>
      <p:sp>
        <p:nvSpPr>
          <p:cNvPr id="3" name="Text 1"/>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Một luồng hai bước: B trước, C sau</a:t>
            </a:r>
            <a:endParaRPr lang="en-US" sz="4800" dirty="0"/>
          </a:p>
        </p:txBody>
      </p:sp>
      <p:sp>
        <p:nvSpPr>
          <p:cNvPr id="4" name="Shape 2"/>
          <p:cNvSpPr/>
          <p:nvPr/>
        </p:nvSpPr>
        <p:spPr>
          <a:xfrm>
            <a:off x="1143000" y="2734389"/>
            <a:ext cx="7391400" cy="2982278"/>
          </a:xfrm>
          <a:prstGeom prst="roundRect">
            <a:avLst>
              <a:gd name="adj" fmla="val 2555"/>
            </a:avLst>
          </a:prstGeom>
          <a:solidFill>
            <a:srgbClr val="232532"/>
          </a:solidFill>
          <a:ln w="7620">
            <a:solidFill>
              <a:srgbClr val="9184D9">
                <a:alpha val="30000"/>
              </a:srgbClr>
            </a:solidFill>
            <a:prstDash val="solid"/>
          </a:ln>
        </p:spPr>
      </p:sp>
      <p:sp>
        <p:nvSpPr>
          <p:cNvPr id="5" name="Text 3"/>
          <p:cNvSpPr/>
          <p:nvPr/>
        </p:nvSpPr>
        <p:spPr>
          <a:xfrm>
            <a:off x="1531620" y="3161109"/>
            <a:ext cx="7275576"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BƯỚC 1 — NHƯ B</a:t>
            </a:r>
            <a:endParaRPr lang="en-US" sz="1950" dirty="0"/>
          </a:p>
        </p:txBody>
      </p:sp>
      <p:sp>
        <p:nvSpPr>
          <p:cNvPr id="6" name="Text 4"/>
          <p:cNvSpPr/>
          <p:nvPr/>
        </p:nvSpPr>
        <p:spPr>
          <a:xfrm>
            <a:off x="1531620" y="3735467"/>
            <a:ext cx="6812585" cy="1015365"/>
          </a:xfrm>
          <a:prstGeom prst="rect">
            <a:avLst/>
          </a:prstGeom>
          <a:noFill/>
          <a:ln/>
        </p:spPr>
        <p:txBody>
          <a:bodyPr wrap="square" lIns="25400" tIns="25400" rIns="25400" bIns="25400" rtlCol="0" anchor="t">
            <a:normAutofit/>
          </a:bodyPr>
          <a:lstStyle/>
          <a:p>
            <a:pPr algn="l" indent="0" marL="0">
              <a:lnSpc>
                <a:spcPct val="116591"/>
              </a:lnSpc>
              <a:buNone/>
            </a:pPr>
            <a:r>
              <a:rPr lang="en-US" sz="2850" dirty="0">
                <a:solidFill>
                  <a:srgbClr val="E9E9ED"/>
                </a:solidFill>
                <a:latin typeface="Arial" pitchFamily="34" charset="0"/>
                <a:ea typeface="Arial" pitchFamily="34" charset="-122"/>
                <a:cs typeface="Arial" pitchFamily="34" charset="-120"/>
              </a:rPr>
              <a:t>AI gợi ý và gom nhóm, user Nhận / Sửa / Bỏ từng phần</a:t>
            </a:r>
            <a:endParaRPr lang="en-US" sz="2850" dirty="0"/>
          </a:p>
        </p:txBody>
      </p:sp>
      <p:sp>
        <p:nvSpPr>
          <p:cNvPr id="7" name="Text 5"/>
          <p:cNvSpPr/>
          <p:nvPr/>
        </p:nvSpPr>
        <p:spPr>
          <a:xfrm>
            <a:off x="1531620" y="4903232"/>
            <a:ext cx="7275576" cy="42481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Giữ đường kiểm chứng qua trích đoạn gốc</a:t>
            </a:r>
            <a:endParaRPr lang="en-US" sz="2100" dirty="0"/>
          </a:p>
        </p:txBody>
      </p:sp>
      <p:sp>
        <p:nvSpPr>
          <p:cNvPr id="8" name="Text 6"/>
          <p:cNvSpPr/>
          <p:nvPr/>
        </p:nvSpPr>
        <p:spPr>
          <a:xfrm>
            <a:off x="8839200" y="2734389"/>
            <a:ext cx="685800" cy="3020378"/>
          </a:xfrm>
          <a:prstGeom prst="rect">
            <a:avLst/>
          </a:prstGeom>
          <a:noFill/>
          <a:ln/>
        </p:spPr>
        <p:txBody>
          <a:bodyPr wrap="square" lIns="25400" tIns="25400" rIns="25400" bIns="25400" rtlCol="0" anchor="ctr">
            <a:normAutofit/>
          </a:bodyPr>
          <a:lstStyle/>
          <a:p>
            <a:pPr algn="l" indent="0" marL="0">
              <a:lnSpc>
                <a:spcPct val="134783"/>
              </a:lnSpc>
              <a:buNone/>
            </a:pPr>
            <a:r>
              <a:rPr lang="en-US" sz="4800" dirty="0">
                <a:solidFill>
                  <a:srgbClr val="5D5294"/>
                </a:solidFill>
                <a:latin typeface="Arial" pitchFamily="34" charset="0"/>
                <a:ea typeface="Arial" pitchFamily="34" charset="-122"/>
                <a:cs typeface="Arial" pitchFamily="34" charset="-120"/>
              </a:rPr>
              <a:t>→</a:t>
            </a:r>
            <a:endParaRPr lang="en-US" sz="4800" dirty="0"/>
          </a:p>
        </p:txBody>
      </p:sp>
      <p:sp>
        <p:nvSpPr>
          <p:cNvPr id="9" name="Shape 7"/>
          <p:cNvSpPr/>
          <p:nvPr/>
        </p:nvSpPr>
        <p:spPr>
          <a:xfrm>
            <a:off x="9753600" y="2734389"/>
            <a:ext cx="7391400" cy="2982278"/>
          </a:xfrm>
          <a:prstGeom prst="roundRect">
            <a:avLst>
              <a:gd name="adj" fmla="val 2555"/>
            </a:avLst>
          </a:prstGeom>
          <a:solidFill>
            <a:srgbClr val="232532"/>
          </a:solidFill>
          <a:ln w="7620">
            <a:solidFill>
              <a:srgbClr val="9184D9">
                <a:alpha val="30000"/>
              </a:srgbClr>
            </a:solidFill>
            <a:prstDash val="solid"/>
          </a:ln>
        </p:spPr>
      </p:sp>
      <p:sp>
        <p:nvSpPr>
          <p:cNvPr id="10" name="Text 8"/>
          <p:cNvSpPr/>
          <p:nvPr/>
        </p:nvSpPr>
        <p:spPr>
          <a:xfrm>
            <a:off x="10142220" y="3161109"/>
            <a:ext cx="7275576"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BƯỚC 2 — NHƯ C</a:t>
            </a:r>
            <a:endParaRPr lang="en-US" sz="1950" dirty="0"/>
          </a:p>
        </p:txBody>
      </p:sp>
      <p:sp>
        <p:nvSpPr>
          <p:cNvPr id="11" name="Text 9"/>
          <p:cNvSpPr/>
          <p:nvPr/>
        </p:nvSpPr>
        <p:spPr>
          <a:xfrm>
            <a:off x="10142220" y="3735467"/>
            <a:ext cx="6812585" cy="1015365"/>
          </a:xfrm>
          <a:prstGeom prst="rect">
            <a:avLst/>
          </a:prstGeom>
          <a:noFill/>
          <a:ln/>
        </p:spPr>
        <p:txBody>
          <a:bodyPr wrap="square" lIns="25400" tIns="25400" rIns="25400" bIns="25400" rtlCol="0" anchor="t">
            <a:normAutofit/>
          </a:bodyPr>
          <a:lstStyle/>
          <a:p>
            <a:pPr algn="l" indent="0" marL="0">
              <a:lnSpc>
                <a:spcPct val="116591"/>
              </a:lnSpc>
              <a:buNone/>
            </a:pPr>
            <a:r>
              <a:rPr lang="en-US" sz="2850" dirty="0">
                <a:solidFill>
                  <a:srgbClr val="E9E9ED"/>
                </a:solidFill>
                <a:latin typeface="Arial" pitchFamily="34" charset="0"/>
                <a:ea typeface="Arial" pitchFamily="34" charset="-122"/>
                <a:cs typeface="Arial" pitchFamily="34" charset="-120"/>
              </a:rPr>
              <a:t>AI tổng hợp đúng phần đã duyệt thành bản nháp có cấu trúc</a:t>
            </a:r>
            <a:endParaRPr lang="en-US" sz="2850" dirty="0"/>
          </a:p>
        </p:txBody>
      </p:sp>
      <p:sp>
        <p:nvSpPr>
          <p:cNvPr id="12" name="Text 10"/>
          <p:cNvSpPr/>
          <p:nvPr/>
        </p:nvSpPr>
        <p:spPr>
          <a:xfrm>
            <a:off x="10142220" y="4903232"/>
            <a:ext cx="7275576" cy="42481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A7A8B4"/>
                </a:solidFill>
                <a:latin typeface="Arial" pitchFamily="34" charset="0"/>
                <a:ea typeface="Arial" pitchFamily="34" charset="-122"/>
                <a:cs typeface="Arial" pitchFamily="34" charset="-120"/>
              </a:rPr>
              <a:t>User chỉ xác nhận hoặc sửa ở bước cuối</a:t>
            </a:r>
            <a:endParaRPr lang="en-US" sz="2100" dirty="0"/>
          </a:p>
        </p:txBody>
      </p:sp>
      <p:sp>
        <p:nvSpPr>
          <p:cNvPr id="13" name="Shape 11"/>
          <p:cNvSpPr/>
          <p:nvPr/>
        </p:nvSpPr>
        <p:spPr>
          <a:xfrm>
            <a:off x="1143000" y="6250067"/>
            <a:ext cx="5079921" cy="9525"/>
          </a:xfrm>
          <a:prstGeom prst="rect">
            <a:avLst/>
          </a:prstGeom>
          <a:solidFill>
            <a:srgbClr val="E9E9ED">
              <a:alpha val="16000"/>
            </a:srgbClr>
          </a:solidFill>
          <a:ln/>
        </p:spPr>
      </p:sp>
      <p:sp>
        <p:nvSpPr>
          <p:cNvPr id="14" name="Text 12"/>
          <p:cNvSpPr/>
          <p:nvPr/>
        </p:nvSpPr>
        <p:spPr>
          <a:xfrm>
            <a:off x="1143000" y="6486287"/>
            <a:ext cx="558791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SỬA Ở A</a:t>
            </a:r>
            <a:endParaRPr lang="en-US" sz="1950" dirty="0"/>
          </a:p>
        </p:txBody>
      </p:sp>
      <p:sp>
        <p:nvSpPr>
          <p:cNvPr id="15" name="Text 13"/>
          <p:cNvSpPr/>
          <p:nvPr/>
        </p:nvSpPr>
        <p:spPr>
          <a:xfrm>
            <a:off x="1143000" y="6984445"/>
            <a:ext cx="5587913" cy="4381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Chỉ giữ một cách thao tác duy nhất</a:t>
            </a:r>
            <a:endParaRPr lang="en-US" sz="2250" dirty="0"/>
          </a:p>
        </p:txBody>
      </p:sp>
      <p:sp>
        <p:nvSpPr>
          <p:cNvPr id="16" name="Shape 14"/>
          <p:cNvSpPr/>
          <p:nvPr/>
        </p:nvSpPr>
        <p:spPr>
          <a:xfrm>
            <a:off x="6603921" y="6250067"/>
            <a:ext cx="5080040" cy="9525"/>
          </a:xfrm>
          <a:prstGeom prst="rect">
            <a:avLst/>
          </a:prstGeom>
          <a:solidFill>
            <a:srgbClr val="E9E9ED">
              <a:alpha val="16000"/>
            </a:srgbClr>
          </a:solidFill>
          <a:ln/>
        </p:spPr>
      </p:sp>
      <p:sp>
        <p:nvSpPr>
          <p:cNvPr id="17" name="Text 15"/>
          <p:cNvSpPr/>
          <p:nvPr/>
        </p:nvSpPr>
        <p:spPr>
          <a:xfrm>
            <a:off x="6603921" y="6486287"/>
            <a:ext cx="5588044"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SỬA Ở B</a:t>
            </a:r>
            <a:endParaRPr lang="en-US" sz="1950" dirty="0"/>
          </a:p>
        </p:txBody>
      </p:sp>
      <p:sp>
        <p:nvSpPr>
          <p:cNvPr id="18" name="Text 16"/>
          <p:cNvSpPr/>
          <p:nvPr/>
        </p:nvSpPr>
        <p:spPr>
          <a:xfrm>
            <a:off x="6603921" y="6984445"/>
            <a:ext cx="5232441"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Nói rõ số lượng nhóm sau gộp và cam kết không mất quyền sửa</a:t>
            </a:r>
            <a:endParaRPr lang="en-US" sz="2250" dirty="0"/>
          </a:p>
        </p:txBody>
      </p:sp>
      <p:sp>
        <p:nvSpPr>
          <p:cNvPr id="19" name="Shape 17"/>
          <p:cNvSpPr/>
          <p:nvPr/>
        </p:nvSpPr>
        <p:spPr>
          <a:xfrm>
            <a:off x="12064960" y="6250067"/>
            <a:ext cx="5080040" cy="9525"/>
          </a:xfrm>
          <a:prstGeom prst="rect">
            <a:avLst/>
          </a:prstGeom>
          <a:solidFill>
            <a:srgbClr val="E9E9ED">
              <a:alpha val="16000"/>
            </a:srgbClr>
          </a:solidFill>
          <a:ln/>
        </p:spPr>
      </p:sp>
      <p:sp>
        <p:nvSpPr>
          <p:cNvPr id="20" name="Text 18"/>
          <p:cNvSpPr/>
          <p:nvPr/>
        </p:nvSpPr>
        <p:spPr>
          <a:xfrm>
            <a:off x="12064960" y="6486287"/>
            <a:ext cx="5588044"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spc="195" kern="0" dirty="0">
                <a:solidFill>
                  <a:srgbClr val="796CBF"/>
                </a:solidFill>
                <a:latin typeface="Arial" pitchFamily="34" charset="0"/>
                <a:ea typeface="Arial" pitchFamily="34" charset="-122"/>
                <a:cs typeface="Arial" pitchFamily="34" charset="-120"/>
              </a:rPr>
              <a:t>SỬA Ở C</a:t>
            </a:r>
            <a:endParaRPr lang="en-US" sz="1950" dirty="0"/>
          </a:p>
        </p:txBody>
      </p:sp>
      <p:sp>
        <p:nvSpPr>
          <p:cNvPr id="21" name="Text 19"/>
          <p:cNvSpPr/>
          <p:nvPr/>
        </p:nvSpPr>
        <p:spPr>
          <a:xfrm>
            <a:off x="12064960" y="6984445"/>
            <a:ext cx="5232441" cy="83820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E9E9ED"/>
                </a:solidFill>
                <a:latin typeface="Arial" pitchFamily="34" charset="0"/>
                <a:ea typeface="Arial" pitchFamily="34" charset="-122"/>
                <a:cs typeface="Arial" pitchFamily="34" charset="-120"/>
              </a:rPr>
              <a:t>Hiện lý do uncertainty ngay tại chỗ, không chỉ qua hover</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62A60">
                  <a:alpha val="100000"/>
                </a:srgbClr>
              </a:gs>
              <a:gs pos="55000">
                <a:srgbClr val="1A1C2D">
                  <a:alpha val="100000"/>
                </a:srgbClr>
              </a:gs>
              <a:gs pos="100000">
                <a:srgbClr val="161826">
                  <a:alpha val="100000"/>
                </a:srgbClr>
              </a:gs>
            </a:gsLst>
            <a:path path="circle">
              <a:fillToRect l="15000" t="100000" r="85000" b="0"/>
            </a:path>
          </a:gradFill>
          <a:ln/>
        </p:spPr>
      </p:sp>
      <p:sp>
        <p:nvSpPr>
          <p:cNvPr id="3" name="Text 1"/>
          <p:cNvSpPr/>
          <p:nvPr/>
        </p:nvSpPr>
        <p:spPr>
          <a:xfrm>
            <a:off x="1143000" y="952500"/>
            <a:ext cx="17602200" cy="451485"/>
          </a:xfrm>
          <a:prstGeom prst="rect">
            <a:avLst/>
          </a:prstGeom>
          <a:noFill/>
          <a:ln/>
        </p:spPr>
        <p:txBody>
          <a:bodyPr wrap="square" lIns="25400" tIns="25400" rIns="25400" bIns="25400" rtlCol="0" anchor="t">
            <a:normAutofit/>
          </a:bodyPr>
          <a:lstStyle/>
          <a:p>
            <a:pPr algn="l" indent="0" marL="0">
              <a:lnSpc>
                <a:spcPct val="135625"/>
              </a:lnSpc>
              <a:buNone/>
            </a:pPr>
            <a:r>
              <a:rPr lang="en-US" sz="2100" spc="294" kern="0" dirty="0">
                <a:solidFill>
                  <a:srgbClr val="B5ABFC"/>
                </a:solidFill>
                <a:latin typeface="Arial" pitchFamily="34" charset="0"/>
                <a:ea typeface="Arial" pitchFamily="34" charset="-122"/>
                <a:cs typeface="Arial" pitchFamily="34" charset="-120"/>
              </a:rPr>
              <a:t>05 · KẾT LUẬN VÀ HƯỚNG CẢI TIẾN</a:t>
            </a:r>
            <a:endParaRPr lang="en-US" sz="2100" dirty="0"/>
          </a:p>
        </p:txBody>
      </p:sp>
      <p:sp>
        <p:nvSpPr>
          <p:cNvPr id="4" name="Text 2"/>
          <p:cNvSpPr/>
          <p:nvPr/>
        </p:nvSpPr>
        <p:spPr>
          <a:xfrm>
            <a:off x="1143000" y="1556385"/>
            <a:ext cx="17602200" cy="720804"/>
          </a:xfrm>
          <a:prstGeom prst="rect">
            <a:avLst/>
          </a:prstGeom>
          <a:noFill/>
          <a:ln/>
        </p:spPr>
        <p:txBody>
          <a:bodyPr wrap="square" lIns="25400" tIns="25400" rIns="25400" bIns="25400" rtlCol="0" anchor="t">
            <a:normAutofit/>
          </a:bodyPr>
          <a:lstStyle/>
          <a:p>
            <a:pPr algn="l" indent="0" marL="0">
              <a:lnSpc>
                <a:spcPct val="97391"/>
              </a:lnSpc>
              <a:buNone/>
            </a:pPr>
            <a:r>
              <a:rPr lang="en-US" sz="4800" spc="-48" kern="0" dirty="0">
                <a:solidFill>
                  <a:srgbClr val="E9E9ED"/>
                </a:solidFill>
                <a:latin typeface="Arial" pitchFamily="34" charset="0"/>
                <a:ea typeface="Arial" pitchFamily="34" charset="-122"/>
                <a:cs typeface="Arial" pitchFamily="34" charset="-120"/>
              </a:rPr>
              <a:t>Việc của vòng sau</a:t>
            </a:r>
            <a:endParaRPr lang="en-US" sz="4800" dirty="0"/>
          </a:p>
        </p:txBody>
      </p:sp>
      <p:sp>
        <p:nvSpPr>
          <p:cNvPr id="5" name="Shape 3"/>
          <p:cNvSpPr/>
          <p:nvPr/>
        </p:nvSpPr>
        <p:spPr>
          <a:xfrm>
            <a:off x="1143000" y="2734389"/>
            <a:ext cx="14859000" cy="9525"/>
          </a:xfrm>
          <a:prstGeom prst="rect">
            <a:avLst/>
          </a:prstGeom>
          <a:solidFill>
            <a:srgbClr val="E9E9ED">
              <a:alpha val="14000"/>
            </a:srgbClr>
          </a:solidFill>
          <a:ln/>
        </p:spPr>
      </p:sp>
      <p:sp>
        <p:nvSpPr>
          <p:cNvPr id="6" name="Text 4"/>
          <p:cNvSpPr/>
          <p:nvPr/>
        </p:nvSpPr>
        <p:spPr>
          <a:xfrm>
            <a:off x="1143000" y="3042999"/>
            <a:ext cx="471488"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796CBF"/>
                </a:solidFill>
                <a:latin typeface="Arial" pitchFamily="34" charset="0"/>
                <a:ea typeface="Arial" pitchFamily="34" charset="-122"/>
                <a:cs typeface="Arial" pitchFamily="34" charset="-120"/>
              </a:rPr>
              <a:t>01</a:t>
            </a:r>
            <a:endParaRPr lang="en-US" sz="2400" dirty="0"/>
          </a:p>
        </p:txBody>
      </p:sp>
      <p:sp>
        <p:nvSpPr>
          <p:cNvPr id="7" name="Text 5"/>
          <p:cNvSpPr/>
          <p:nvPr/>
        </p:nvSpPr>
        <p:spPr>
          <a:xfrm>
            <a:off x="1919288" y="3027759"/>
            <a:ext cx="10704993" cy="518160"/>
          </a:xfrm>
          <a:prstGeom prst="rect">
            <a:avLst/>
          </a:prstGeom>
          <a:noFill/>
          <a:ln/>
        </p:spPr>
        <p:txBody>
          <a:bodyPr wrap="square" lIns="25400" tIns="25400" rIns="25400" bIns="25400" rtlCol="0" anchor="t">
            <a:normAutofit/>
          </a:bodyPr>
          <a:lstStyle/>
          <a:p>
            <a:pPr algn="l" indent="0" marL="0">
              <a:lnSpc>
                <a:spcPct val="121154"/>
              </a:lnSpc>
              <a:buNone/>
            </a:pPr>
            <a:r>
              <a:rPr lang="en-US" sz="2700" dirty="0">
                <a:solidFill>
                  <a:srgbClr val="E9E9ED"/>
                </a:solidFill>
                <a:latin typeface="Arial" pitchFamily="34" charset="0"/>
                <a:ea typeface="Arial" pitchFamily="34" charset="-122"/>
                <a:cs typeface="Arial" pitchFamily="34" charset="-120"/>
              </a:rPr>
              <a:t>Dựng thiết kế lai B+C thành một prototype riêng và test trực tiếp</a:t>
            </a:r>
            <a:endParaRPr lang="en-US" sz="2700" dirty="0"/>
          </a:p>
        </p:txBody>
      </p:sp>
      <p:sp>
        <p:nvSpPr>
          <p:cNvPr id="8" name="Shape 6"/>
          <p:cNvSpPr/>
          <p:nvPr/>
        </p:nvSpPr>
        <p:spPr>
          <a:xfrm>
            <a:off x="1143000" y="3801189"/>
            <a:ext cx="14859000" cy="9525"/>
          </a:xfrm>
          <a:prstGeom prst="rect">
            <a:avLst/>
          </a:prstGeom>
          <a:solidFill>
            <a:srgbClr val="E9E9ED">
              <a:alpha val="14000"/>
            </a:srgbClr>
          </a:solidFill>
          <a:ln/>
        </p:spPr>
      </p:sp>
      <p:sp>
        <p:nvSpPr>
          <p:cNvPr id="9" name="Text 7"/>
          <p:cNvSpPr/>
          <p:nvPr/>
        </p:nvSpPr>
        <p:spPr>
          <a:xfrm>
            <a:off x="1143000" y="4109799"/>
            <a:ext cx="471488"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796CBF"/>
                </a:solidFill>
                <a:latin typeface="Arial" pitchFamily="34" charset="0"/>
                <a:ea typeface="Arial" pitchFamily="34" charset="-122"/>
                <a:cs typeface="Arial" pitchFamily="34" charset="-120"/>
              </a:rPr>
              <a:t>02</a:t>
            </a:r>
            <a:endParaRPr lang="en-US" sz="2400" dirty="0"/>
          </a:p>
        </p:txBody>
      </p:sp>
      <p:sp>
        <p:nvSpPr>
          <p:cNvPr id="10" name="Text 8"/>
          <p:cNvSpPr/>
          <p:nvPr/>
        </p:nvSpPr>
        <p:spPr>
          <a:xfrm>
            <a:off x="1919288" y="4094559"/>
            <a:ext cx="10800076" cy="518160"/>
          </a:xfrm>
          <a:prstGeom prst="rect">
            <a:avLst/>
          </a:prstGeom>
          <a:noFill/>
          <a:ln/>
        </p:spPr>
        <p:txBody>
          <a:bodyPr wrap="square" lIns="25400" tIns="25400" rIns="25400" bIns="25400" rtlCol="0" anchor="t">
            <a:normAutofit/>
          </a:bodyPr>
          <a:lstStyle/>
          <a:p>
            <a:pPr algn="l" indent="0" marL="0">
              <a:lnSpc>
                <a:spcPct val="121154"/>
              </a:lnSpc>
              <a:buNone/>
            </a:pPr>
            <a:r>
              <a:rPr lang="en-US" sz="2700" dirty="0">
                <a:solidFill>
                  <a:srgbClr val="E9E9ED"/>
                </a:solidFill>
                <a:latin typeface="Arial" pitchFamily="34" charset="0"/>
                <a:ea typeface="Arial" pitchFamily="34" charset="-122"/>
                <a:cs typeface="Arial" pitchFamily="34" charset="-120"/>
              </a:rPr>
              <a:t>Quan sát cơ chế Hoàn tác / Sửa / Tạo lại ở nhiều hơn một tester</a:t>
            </a:r>
            <a:endParaRPr lang="en-US" sz="2700" dirty="0"/>
          </a:p>
        </p:txBody>
      </p:sp>
      <p:sp>
        <p:nvSpPr>
          <p:cNvPr id="11" name="Shape 9"/>
          <p:cNvSpPr/>
          <p:nvPr/>
        </p:nvSpPr>
        <p:spPr>
          <a:xfrm>
            <a:off x="1143000" y="4867989"/>
            <a:ext cx="14859000" cy="9525"/>
          </a:xfrm>
          <a:prstGeom prst="rect">
            <a:avLst/>
          </a:prstGeom>
          <a:solidFill>
            <a:srgbClr val="E9E9ED">
              <a:alpha val="14000"/>
            </a:srgbClr>
          </a:solidFill>
          <a:ln/>
        </p:spPr>
      </p:sp>
      <p:sp>
        <p:nvSpPr>
          <p:cNvPr id="12" name="Text 10"/>
          <p:cNvSpPr/>
          <p:nvPr/>
        </p:nvSpPr>
        <p:spPr>
          <a:xfrm>
            <a:off x="1143000" y="5176600"/>
            <a:ext cx="471488"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796CBF"/>
                </a:solidFill>
                <a:latin typeface="Arial" pitchFamily="34" charset="0"/>
                <a:ea typeface="Arial" pitchFamily="34" charset="-122"/>
                <a:cs typeface="Arial" pitchFamily="34" charset="-120"/>
              </a:rPr>
              <a:t>03</a:t>
            </a:r>
            <a:endParaRPr lang="en-US" sz="2400" dirty="0"/>
          </a:p>
        </p:txBody>
      </p:sp>
      <p:sp>
        <p:nvSpPr>
          <p:cNvPr id="13" name="Text 11"/>
          <p:cNvSpPr/>
          <p:nvPr/>
        </p:nvSpPr>
        <p:spPr>
          <a:xfrm>
            <a:off x="1919288" y="5161359"/>
            <a:ext cx="10521637" cy="518160"/>
          </a:xfrm>
          <a:prstGeom prst="rect">
            <a:avLst/>
          </a:prstGeom>
          <a:noFill/>
          <a:ln/>
        </p:spPr>
        <p:txBody>
          <a:bodyPr wrap="square" lIns="25400" tIns="25400" rIns="25400" bIns="25400" rtlCol="0" anchor="t">
            <a:normAutofit/>
          </a:bodyPr>
          <a:lstStyle/>
          <a:p>
            <a:pPr algn="l" indent="0" marL="0">
              <a:lnSpc>
                <a:spcPct val="121154"/>
              </a:lnSpc>
              <a:buNone/>
            </a:pPr>
            <a:r>
              <a:rPr lang="en-US" sz="2700" dirty="0">
                <a:solidFill>
                  <a:srgbClr val="E9E9ED"/>
                </a:solidFill>
                <a:latin typeface="Arial" pitchFamily="34" charset="0"/>
                <a:ea typeface="Arial" pitchFamily="34" charset="-122"/>
                <a:cs typeface="Arial" pitchFamily="34" charset="-120"/>
              </a:rPr>
              <a:t>Test với dữ liệu học thật của tester thay vì fixture của prototype</a:t>
            </a:r>
            <a:endParaRPr lang="en-US" sz="2700" dirty="0"/>
          </a:p>
        </p:txBody>
      </p:sp>
      <p:sp>
        <p:nvSpPr>
          <p:cNvPr id="14" name="Shape 12"/>
          <p:cNvSpPr/>
          <p:nvPr/>
        </p:nvSpPr>
        <p:spPr>
          <a:xfrm>
            <a:off x="1143000" y="7001590"/>
            <a:ext cx="14859000" cy="9525"/>
          </a:xfrm>
          <a:prstGeom prst="rect">
            <a:avLst/>
          </a:prstGeom>
          <a:solidFill>
            <a:srgbClr val="E9E9ED">
              <a:alpha val="14000"/>
            </a:srgbClr>
          </a:solidFill>
          <a:ln/>
        </p:spPr>
      </p:sp>
      <p:sp>
        <p:nvSpPr>
          <p:cNvPr id="15" name="Shape 13"/>
          <p:cNvSpPr/>
          <p:nvPr/>
        </p:nvSpPr>
        <p:spPr>
          <a:xfrm>
            <a:off x="1143000" y="5934789"/>
            <a:ext cx="14859000" cy="9525"/>
          </a:xfrm>
          <a:prstGeom prst="rect">
            <a:avLst/>
          </a:prstGeom>
          <a:solidFill>
            <a:srgbClr val="E9E9ED">
              <a:alpha val="14000"/>
            </a:srgbClr>
          </a:solidFill>
          <a:ln/>
        </p:spPr>
      </p:sp>
      <p:sp>
        <p:nvSpPr>
          <p:cNvPr id="16" name="Text 14"/>
          <p:cNvSpPr/>
          <p:nvPr/>
        </p:nvSpPr>
        <p:spPr>
          <a:xfrm>
            <a:off x="1143000" y="6243400"/>
            <a:ext cx="471488" cy="510540"/>
          </a:xfrm>
          <a:prstGeom prst="rect">
            <a:avLst/>
          </a:prstGeom>
          <a:noFill/>
          <a:ln/>
        </p:spPr>
        <p:txBody>
          <a:bodyPr wrap="square" lIns="25400" tIns="25400" rIns="25400" bIns="25400" rtlCol="0" anchor="t">
            <a:normAutofit/>
          </a:bodyPr>
          <a:lstStyle/>
          <a:p>
            <a:pPr algn="l" indent="0" marL="0">
              <a:lnSpc>
                <a:spcPct val="137778"/>
              </a:lnSpc>
              <a:buNone/>
            </a:pPr>
            <a:r>
              <a:rPr lang="en-US" sz="2400" dirty="0">
                <a:solidFill>
                  <a:srgbClr val="796CBF"/>
                </a:solidFill>
                <a:latin typeface="Arial" pitchFamily="34" charset="0"/>
                <a:ea typeface="Arial" pitchFamily="34" charset="-122"/>
                <a:cs typeface="Arial" pitchFamily="34" charset="-120"/>
              </a:rPr>
              <a:t>04</a:t>
            </a:r>
            <a:endParaRPr lang="en-US" sz="2400" dirty="0"/>
          </a:p>
        </p:txBody>
      </p:sp>
      <p:sp>
        <p:nvSpPr>
          <p:cNvPr id="17" name="Text 15"/>
          <p:cNvSpPr/>
          <p:nvPr/>
        </p:nvSpPr>
        <p:spPr>
          <a:xfrm>
            <a:off x="1919288" y="6228159"/>
            <a:ext cx="11343335" cy="518160"/>
          </a:xfrm>
          <a:prstGeom prst="rect">
            <a:avLst/>
          </a:prstGeom>
          <a:noFill/>
          <a:ln/>
        </p:spPr>
        <p:txBody>
          <a:bodyPr wrap="square" lIns="25400" tIns="25400" rIns="25400" bIns="25400" rtlCol="0" anchor="t">
            <a:normAutofit/>
          </a:bodyPr>
          <a:lstStyle/>
          <a:p>
            <a:pPr algn="l" indent="0" marL="0">
              <a:lnSpc>
                <a:spcPct val="121154"/>
              </a:lnSpc>
              <a:buNone/>
            </a:pPr>
            <a:r>
              <a:rPr lang="en-US" sz="2700" dirty="0">
                <a:solidFill>
                  <a:srgbClr val="E9E9ED"/>
                </a:solidFill>
                <a:latin typeface="Arial" pitchFamily="34" charset="0"/>
                <a:ea typeface="Arial" pitchFamily="34" charset="-122"/>
                <a:cs typeface="Arial" pitchFamily="34" charset="-120"/>
              </a:rPr>
              <a:t>Phỏng vấn lại theo guide mới để trả lời barrier nằm ở TÌM hay HIỂU</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2026-08-19T05:13:04Z</dcterms:created>
  <dcterms:modified xsi:type="dcterms:W3CDTF">2026-08-19T05:13:04Z</dcterms:modified>
</cp:coreProperties>
</file>